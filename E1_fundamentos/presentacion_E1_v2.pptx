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8FA8BF"/>
                </a:solidFill>
                <a:latin typeface="Calibri"/>
              </a:rPr>
              <a:t>data </a:t>
            </a:r>
            <a:r>
              <a:rPr sz="2000" b="1">
                <a:solidFill>
                  <a:srgbClr val="4AADA4"/>
                </a:solidFill>
                <a:latin typeface="Calibri"/>
              </a:rPr>
              <a:t>oilers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60320"/>
            <a:ext cx="128016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7860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ENCUENTRO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00400"/>
            <a:ext cx="91440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3832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Fundamentos, Calidad</a:t>
            </a:r>
            <a:br/>
            <a:r>
              <a:t>y Primer Contacto con</a:t>
            </a:r>
            <a:br/>
            <a:r>
              <a:t>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FA8BF"/>
                </a:solidFill>
                <a:latin typeface="Calibri"/>
              </a:defRPr>
            </a:pPr>
            <a:r>
              <a:t>Capacitación en Análisis de Datos · ISELIN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94"/>
                </a:solidFill>
                <a:latin typeface="Calibri"/>
              </a:defRPr>
            </a:pPr>
            <a:r>
              <a:t>Jueves 16 de abril de 2026  ·  Presencial  ·  2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2A3A"/>
                </a:solidFill>
                <a:latin typeface="Calibri"/>
              </a:defRPr>
            </a:pPr>
            <a:r>
              <a:t>Agenda del día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6A6"/>
                </a:solidFill>
                <a:latin typeface="Calibri"/>
              </a:defRPr>
            </a:pPr>
            <a:r>
              <a:t>Lo que vamos a recorrer en estas 2 horas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515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63500" cy="685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819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96A6"/>
                </a:solidFill>
                <a:latin typeface="Calibri"/>
              </a:defRPr>
            </a:pPr>
            <a:r>
              <a:t>10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508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2A3A"/>
                </a:solidFill>
                <a:latin typeface="Calibri"/>
              </a:defRPr>
            </a:pPr>
            <a:r>
              <a:t>Apertura y contexto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6A6"/>
                </a:solidFill>
                <a:latin typeface="Calibri"/>
              </a:defRPr>
            </a:pPr>
            <a:r>
              <a:t>Presentación del programa y expectativas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673352"/>
            <a:ext cx="653142" cy="1828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2240280"/>
            <a:ext cx="10515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240280"/>
            <a:ext cx="63500" cy="6858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3774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ADA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4048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96A6"/>
                </a:solidFill>
                <a:latin typeface="Calibri"/>
              </a:defRPr>
            </a:pPr>
            <a:r>
              <a:t>25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2A3A"/>
                </a:solidFill>
                <a:latin typeface="Calibri"/>
              </a:defRPr>
            </a:pPr>
            <a:r>
              <a:t>Análisis de datos y calidad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6A6"/>
                </a:solidFill>
                <a:latin typeface="Calibri"/>
              </a:defRPr>
            </a:pPr>
            <a:r>
              <a:t>Por qué importa y cómo se conecta con ISELIN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496312"/>
            <a:ext cx="1632857" cy="182880"/>
          </a:xfrm>
          <a:prstGeom prst="round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3063240"/>
            <a:ext cx="10515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063240"/>
            <a:ext cx="63500" cy="685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2004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2278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96A6"/>
                </a:solidFill>
                <a:latin typeface="Calibri"/>
              </a:defRPr>
            </a:pPr>
            <a:r>
              <a:t>25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154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2A3A"/>
                </a:solidFill>
                <a:latin typeface="Calibri"/>
              </a:defRPr>
            </a:pPr>
            <a:r>
              <a:t>Conceptos fundamentales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6A6"/>
                </a:solidFill>
                <a:latin typeface="Calibri"/>
              </a:defRPr>
            </a:pPr>
            <a:r>
              <a:t>ETL, tablas, filtros y estadísticas básicas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3319272"/>
            <a:ext cx="1632857" cy="1828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3886200"/>
            <a:ext cx="10515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3886200"/>
            <a:ext cx="63500" cy="6858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0233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ADA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0507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96A6"/>
                </a:solidFill>
                <a:latin typeface="Calibri"/>
              </a:defRPr>
            </a:pPr>
            <a:r>
              <a:t>35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977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2A3A"/>
                </a:solidFill>
                <a:latin typeface="Calibri"/>
              </a:defRPr>
            </a:pPr>
            <a:r>
              <a:t>Power BI: demo en vivo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251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6A6"/>
                </a:solidFill>
                <a:latin typeface="Calibri"/>
              </a:defRPr>
            </a:pPr>
            <a:r>
              <a:t>Conocer la herramienta y cargar datos reales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4142232"/>
            <a:ext cx="2286000" cy="182880"/>
          </a:xfrm>
          <a:prstGeom prst="round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" y="4709160"/>
            <a:ext cx="10515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" y="4709160"/>
            <a:ext cx="63500" cy="685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48463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48737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96A6"/>
                </a:solidFill>
                <a:latin typeface="Calibri"/>
              </a:defRPr>
            </a:pPr>
            <a:r>
              <a:t>15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800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2A3A"/>
                </a:solidFill>
                <a:latin typeface="Calibri"/>
              </a:defRPr>
            </a:pPr>
            <a:r>
              <a:t>Cierre y tarea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6A6"/>
                </a:solidFill>
                <a:latin typeface="Calibri"/>
              </a:defRPr>
            </a:pPr>
            <a:r>
              <a:t>Mapa de ruta y preparación para el Encuentro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4965192"/>
            <a:ext cx="979714" cy="1828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14400" y="5532120"/>
            <a:ext cx="10515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" y="5532120"/>
            <a:ext cx="63500" cy="685800"/>
          </a:xfrm>
          <a:prstGeom prst="rect">
            <a:avLst/>
          </a:prstGeom>
          <a:solidFill>
            <a:srgbClr val="8A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280" y="56692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A96A6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54480" y="56967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96A6"/>
                </a:solidFill>
                <a:latin typeface="Calibri"/>
              </a:defRPr>
            </a:pPr>
            <a:r>
              <a:t>10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5623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2A3A"/>
                </a:solidFill>
                <a:latin typeface="Calibri"/>
              </a:defRPr>
            </a:pPr>
            <a:r>
              <a:t>Tiempo extra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5897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6A6"/>
                </a:solidFill>
                <a:latin typeface="Calibri"/>
              </a:defRPr>
            </a:pPr>
            <a:r>
              <a:t>Preguntas adicionales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0" y="5788152"/>
            <a:ext cx="653142" cy="182880"/>
          </a:xfrm>
          <a:prstGeom prst="roundRect">
            <a:avLst/>
          </a:prstGeom>
          <a:solidFill>
            <a:srgbClr val="8A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2A3A"/>
                </a:solidFill>
                <a:latin typeface="Calibri"/>
              </a:defRPr>
            </a:pPr>
            <a:r>
              <a:t>¿Por qué importa el análisis de datos?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6A6"/>
                </a:solidFill>
                <a:latin typeface="Calibri"/>
              </a:defRPr>
            </a:pPr>
            <a:r>
              <a:t>De la intuición a las decisiones basadas en evidencia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520440" cy="34747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55648"/>
            <a:ext cx="41148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74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Decisiones a ciegas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9456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El 33% de los ejecutivos aún basan sus decisiones</a:t>
            </a:r>
            <a:br/>
            <a:r>
              <a:t>en intuición personal (PwC, 2016).</a:t>
            </a:r>
            <a:br/>
            <a:br/>
            <a:r>
              <a:t>La intuición es valiosa, pero insuficiente</a:t>
            </a:r>
            <a:br/>
            <a:r>
              <a:t>en un entorno de alta complejidad.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645920"/>
            <a:ext cx="3520440" cy="3474720"/>
          </a:xfrm>
          <a:prstGeom prst="roundRect">
            <a:avLst/>
          </a:prstGeom>
          <a:solidFill>
            <a:srgbClr val="EAFBF0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1755648"/>
            <a:ext cx="41148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874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Datos como activo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19456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Las empresas que aprovechan sus datos</a:t>
            </a:r>
            <a:br/>
            <a:r>
              <a:t>aventajan a sus competidores en un 85%</a:t>
            </a:r>
            <a:br/>
            <a:r>
              <a:t>en crecimiento de ventas.</a:t>
            </a:r>
            <a:br/>
            <a:br/>
            <a:r>
              <a:t>Los datos no son un costo de IT,</a:t>
            </a:r>
            <a:br/>
            <a:r>
              <a:t>son un activo generador de valor.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645920"/>
            <a:ext cx="3520440" cy="34747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200" y="1755648"/>
            <a:ext cx="41148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1874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Visibilidad compartida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19456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Un dashboard permite que todas las áreas</a:t>
            </a:r>
            <a:br/>
            <a:r>
              <a:t>vean los mismos números.</a:t>
            </a:r>
            <a:br/>
            <a:br/>
            <a:r>
              <a:t>Alinea criterios, facilita la comunicación</a:t>
            </a:r>
            <a:br/>
            <a:r>
              <a:t>y reduce las discusiones</a:t>
            </a:r>
            <a:br/>
            <a:r>
              <a:t>basadas en suposiciones.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4114800" cy="3657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32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t>Wiki Cap. 1: La Evolución de la Intuición al Dato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2A3A"/>
                </a:solidFill>
                <a:latin typeface="Calibri"/>
              </a:defRPr>
            </a:pPr>
            <a:r>
              <a:t>De datos a decisiones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6A6"/>
                </a:solidFill>
                <a:latin typeface="Calibri"/>
              </a:defRPr>
            </a:pPr>
            <a:r>
              <a:t>La pirámide del conocimiento (DIKW)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09647" y="1371600"/>
            <a:ext cx="7772400" cy="1051560"/>
          </a:xfrm>
          <a:prstGeom prst="roundRect">
            <a:avLst/>
          </a:prstGeom>
          <a:solidFill>
            <a:srgbClr val="E8EBF0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92527" y="1444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96A6"/>
                </a:solidFill>
                <a:latin typeface="Calibri"/>
              </a:defRPr>
            </a:pPr>
            <a:r>
              <a:t>DATO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2527" y="1691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Calibri"/>
              </a:defRPr>
            </a:pPr>
            <a:r>
              <a:t>Materia prima. Registros brutos</a:t>
            </a:r>
            <a:br/>
            <a:r>
              <a:t>sin contexto ni significado.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15087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6A6"/>
                </a:solidFill>
                <a:latin typeface="Calibri"/>
              </a:defRPr>
            </a:pPr>
            <a:r>
              <a:t>Un registro de viaje:</a:t>
            </a:r>
            <a:br/>
            <a:r>
              <a:t>fecha, chofer, km, gasoil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331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6A6"/>
                </a:solidFill>
                <a:latin typeface="Calibri"/>
              </a:defRPr>
            </a:pPr>
            <a:r>
              <a:t>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86887" y="2606040"/>
            <a:ext cx="6217920" cy="10515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9767" y="2679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  <a:latin typeface="Calibri"/>
              </a:defRPr>
            </a:pPr>
            <a:r>
              <a:t>INFORMACIÓN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9767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Calibri"/>
              </a:defRPr>
            </a:pPr>
            <a:r>
              <a:t>Datos organizados que responden</a:t>
            </a:r>
            <a:br/>
            <a:r>
              <a:t>preguntas básicas: qué, cuándo, cuánto.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7207" y="27432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6A6"/>
                </a:solidFill>
                <a:latin typeface="Calibri"/>
              </a:defRPr>
            </a:pPr>
            <a:r>
              <a:t>Total de viajes del mes: 1.250</a:t>
            </a:r>
            <a:br/>
            <a:r>
              <a:t>Km promedio por día: 4.500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566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498DB"/>
                </a:solidFill>
                <a:latin typeface="Calibri"/>
              </a:defRPr>
            </a:pPr>
            <a:r>
              <a:t>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64127" y="3840480"/>
            <a:ext cx="4663440" cy="105156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47007" y="3913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ADA4"/>
                </a:solidFill>
                <a:latin typeface="Calibri"/>
              </a:defRPr>
            </a:pPr>
            <a:r>
              <a:t>CONOCIMIENTO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47007" y="4160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Calibri"/>
              </a:defRPr>
            </a:pPr>
            <a:r>
              <a:t>Información interpretada.</a:t>
            </a:r>
            <a:br/>
            <a:r>
              <a:t>Entendemos patrones y causas.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9967" y="39776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6A6"/>
                </a:solidFill>
                <a:latin typeface="Calibri"/>
              </a:defRPr>
            </a:pPr>
            <a:r>
              <a:t>Los viajes bajaron 15% porque</a:t>
            </a:r>
            <a:br/>
            <a:r>
              <a:t>hubo 3 colectivos en reparación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ADA4"/>
                </a:solidFill>
                <a:latin typeface="Calibri"/>
              </a:defRPr>
            </a:pPr>
            <a:r>
              <a:t>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41367" y="5074920"/>
            <a:ext cx="3108960" cy="1051560"/>
          </a:xfrm>
          <a:prstGeom prst="roundRect">
            <a:avLst/>
          </a:prstGeom>
          <a:solidFill>
            <a:srgbClr val="EAFBF0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4247" y="5148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SABIDURÍA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4247" y="5394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Calibri"/>
              </a:defRPr>
            </a:pPr>
            <a:r>
              <a:t>Conocimiento aplicado para</a:t>
            </a:r>
            <a:br/>
            <a:r>
              <a:t>tomar decisiones y actuar.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92727" y="52120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6A6"/>
                </a:solidFill>
                <a:latin typeface="Calibri"/>
              </a:defRPr>
            </a:pPr>
            <a:r>
              <a:t>Programar mantenimiento preventivo</a:t>
            </a:r>
            <a:br/>
            <a:r>
              <a:t>para evitar la baja de flota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6355080"/>
            <a:ext cx="4114800" cy="3657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6400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t>Wiki Cap. 2: Alfabetización de Datos — Pirámide DIKW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2A3A"/>
                </a:solidFill>
                <a:latin typeface="Calibri"/>
              </a:defRPr>
            </a:pPr>
            <a:r>
              <a:t>Los 4 niveles de análisis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6A6"/>
                </a:solidFill>
                <a:latin typeface="Calibri"/>
              </a:defRPr>
            </a:pPr>
            <a:r>
              <a:t>Cada nivel responde una pregunta diferente sobre el negocio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97480" cy="41148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45720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98DB"/>
                </a:solidFill>
                <a:latin typeface="Calibri"/>
              </a:defRPr>
            </a:pPr>
            <a:r>
              <a:t>Descriptivo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A3A"/>
                </a:solidFill>
                <a:latin typeface="Calibri"/>
              </a:defRPr>
            </a:pPr>
            <a:r>
              <a:t>¿Qué pasó?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Reportes, dashboards,</a:t>
            </a:r>
            <a:br/>
            <a:r>
              <a:t>resúmenes de datos</a:t>
            </a:r>
            <a:br/>
            <a:r>
              <a:t>históricos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480560"/>
            <a:ext cx="2377440" cy="1270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617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6A6"/>
                </a:solidFill>
                <a:latin typeface="Calibri"/>
              </a:defRPr>
            </a:pPr>
            <a:r>
              <a:t>Donde arrancamos</a:t>
            </a:r>
            <a:br/>
            <a:r>
              <a:t>en esta capacitación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554480"/>
            <a:ext cx="2697480" cy="41148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6160" y="1691640"/>
            <a:ext cx="457200" cy="457200"/>
          </a:xfrm>
          <a:prstGeom prst="round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7190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ADA4"/>
                </a:solidFill>
                <a:latin typeface="Calibri"/>
              </a:defRPr>
            </a:pPr>
            <a:r>
              <a:t>Diagnóstico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A3A"/>
                </a:solidFill>
                <a:latin typeface="Calibri"/>
              </a:defRPr>
            </a:pPr>
            <a:r>
              <a:t>¿Por qué pasó?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7432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Análisis de causas,</a:t>
            </a:r>
            <a:br/>
            <a:r>
              <a:t>correlaciones,</a:t>
            </a:r>
            <a:br/>
            <a:r>
              <a:t>drill-down en reportes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4480560"/>
            <a:ext cx="2377440" cy="1270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4617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6A6"/>
                </a:solidFill>
                <a:latin typeface="Calibri"/>
              </a:defRPr>
            </a:pPr>
            <a:r>
              <a:t>Encuentros 2 y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554480"/>
            <a:ext cx="2697480" cy="411480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1691640"/>
            <a:ext cx="45720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7190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Calibri"/>
              </a:defRPr>
            </a:pPr>
            <a:r>
              <a:t>Predictivo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A3A"/>
                </a:solidFill>
                <a:latin typeface="Calibri"/>
              </a:defRPr>
            </a:pPr>
            <a:r>
              <a:t>¿Qué va a pasar?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7432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Modelos estadísticos,</a:t>
            </a:r>
            <a:br/>
            <a:r>
              <a:t>tendencias,</a:t>
            </a:r>
            <a:br/>
            <a:r>
              <a:t>forecasting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4480560"/>
            <a:ext cx="2377440" cy="1270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617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6A6"/>
                </a:solidFill>
                <a:latin typeface="Calibri"/>
              </a:defRPr>
            </a:pPr>
            <a:r>
              <a:t>Encuentro 4</a:t>
            </a:r>
            <a:br/>
            <a:r>
              <a:t>(introducción)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1554480"/>
            <a:ext cx="2697480" cy="4114800"/>
          </a:xfrm>
          <a:prstGeom prst="roundRect">
            <a:avLst/>
          </a:prstGeom>
          <a:solidFill>
            <a:srgbClr val="EAFBF0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26880" y="169164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17190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Calibri"/>
              </a:defRPr>
            </a:pPr>
            <a:r>
              <a:t>Prescriptivo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A3A"/>
                </a:solidFill>
                <a:latin typeface="Calibri"/>
              </a:defRPr>
            </a:pPr>
            <a:r>
              <a:t>¿Qué debemos hacer?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27432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Recomendaciones</a:t>
            </a:r>
            <a:br/>
            <a:r>
              <a:t>automáticas,</a:t>
            </a:r>
            <a:br/>
            <a:r>
              <a:t>optimización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4480560"/>
            <a:ext cx="2377440" cy="1270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4617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6A6"/>
                </a:solidFill>
                <a:latin typeface="Calibri"/>
              </a:defRPr>
            </a:pPr>
            <a:r>
              <a:t>Futuro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943600"/>
            <a:ext cx="11064240" cy="2540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035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6A6"/>
                </a:solidFill>
                <a:latin typeface="Calibri"/>
              </a:defRPr>
            </a:pPr>
            <a:r>
              <a:t>Menor complejidad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6035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A96A6"/>
                </a:solidFill>
                <a:latin typeface="Calibri"/>
              </a:defRPr>
            </a:pPr>
            <a:r>
              <a:t>Mayor valor para el negocio 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0" y="5989320"/>
            <a:ext cx="4114800" cy="3657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60350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t>Wiki Cap. 5: Analítica para la Acción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2A3A"/>
                </a:solidFill>
                <a:latin typeface="Calibri"/>
              </a:defRPr>
            </a:pPr>
            <a:r>
              <a:t>Calidad de datos: la base de todo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6A6"/>
                </a:solidFill>
                <a:latin typeface="Calibri"/>
              </a:defRPr>
            </a:pPr>
            <a:r>
              <a:t>"Basura entra, basura sale" — Si los datos son malos, las decisiones también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63500" cy="1645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737360"/>
            <a:ext cx="45720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647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755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2A3A"/>
                </a:solidFill>
                <a:latin typeface="Calibri"/>
              </a:defRPr>
            </a:pPr>
            <a:r>
              <a:t>Precisión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Los datos reflejan</a:t>
            </a:r>
            <a:br/>
            <a:r>
              <a:t>la realidad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55448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554480"/>
            <a:ext cx="63500" cy="164592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09160" y="1737360"/>
            <a:ext cx="457200" cy="457200"/>
          </a:xfrm>
          <a:prstGeom prst="round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7647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755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2A3A"/>
                </a:solidFill>
                <a:latin typeface="Calibri"/>
              </a:defRPr>
            </a:pPr>
            <a:r>
              <a:t>Completitud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No faltan valores</a:t>
            </a:r>
            <a:br/>
            <a:r>
              <a:t>importantes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55448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1554480"/>
            <a:ext cx="6350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03920" y="173736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7647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755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2A3A"/>
                </a:solidFill>
                <a:latin typeface="Calibri"/>
              </a:defRPr>
            </a:pPr>
            <a:r>
              <a:t>Consistencia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Los mismos datos</a:t>
            </a:r>
            <a:br/>
            <a:r>
              <a:t>no se contradicen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56616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566160"/>
            <a:ext cx="63500" cy="1645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3749040"/>
            <a:ext cx="45720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7764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7673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2A3A"/>
                </a:solidFill>
                <a:latin typeface="Calibri"/>
              </a:defRPr>
            </a:pPr>
            <a:r>
              <a:t>Validez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1148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Formatos y rangos</a:t>
            </a:r>
            <a:br/>
            <a:r>
              <a:t>correctos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356616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26280" y="3566160"/>
            <a:ext cx="63500" cy="1645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09160" y="3749040"/>
            <a:ext cx="45720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37764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37673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2A3A"/>
                </a:solidFill>
                <a:latin typeface="Calibri"/>
              </a:defRPr>
            </a:pPr>
            <a:r>
              <a:t>Unicidad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41148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Sin registros</a:t>
            </a:r>
            <a:br/>
            <a:r>
              <a:t>duplicados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356616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21040" y="3566160"/>
            <a:ext cx="63500" cy="164592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03920" y="3749040"/>
            <a:ext cx="457200" cy="457200"/>
          </a:xfrm>
          <a:prstGeom prst="round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37764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37673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2A3A"/>
                </a:solidFill>
                <a:latin typeface="Calibri"/>
              </a:defRPr>
            </a:pPr>
            <a:r>
              <a:t>Oportunidad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41148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Datos actualizados</a:t>
            </a:r>
            <a:br/>
            <a:r>
              <a:t>cuando se necesitan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760720"/>
            <a:ext cx="4114800" cy="3657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5806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t>Wiki Cap. 4: Calidad y Gobierno de Datos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2A3A"/>
                </a:solidFill>
                <a:latin typeface="Calibri"/>
              </a:defRPr>
            </a:pPr>
            <a:r>
              <a:t>Ciclo de mejora continua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6A6"/>
                </a:solidFill>
                <a:latin typeface="Calibri"/>
              </a:defRPr>
            </a:pPr>
            <a:r>
              <a:t>Power BI es la herramienta de "Verificar" dentro del ciclo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6060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37360" y="2011680"/>
            <a:ext cx="45720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0391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98DB"/>
                </a:solidFill>
                <a:latin typeface="Calibri"/>
              </a:defRPr>
            </a:pPr>
            <a:r>
              <a:t>Planificar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Definir objetivos</a:t>
            </a:r>
            <a:br/>
            <a:r>
              <a:t>y planificar acciones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8A96A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828800"/>
            <a:ext cx="26060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17720" y="2011680"/>
            <a:ext cx="457200" cy="457200"/>
          </a:xfrm>
          <a:prstGeom prst="round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0391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6060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ADA4"/>
                </a:solidFill>
                <a:latin typeface="Calibri"/>
              </a:defRPr>
            </a:pPr>
            <a:r>
              <a:t>Hacer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06324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Ejecutar lo</a:t>
            </a:r>
            <a:br/>
            <a:r>
              <a:t>planificado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8A96A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828800"/>
            <a:ext cx="2606040" cy="2560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80" y="2011680"/>
            <a:ext cx="45720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20391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060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7E22"/>
                </a:solidFill>
                <a:latin typeface="Calibri"/>
              </a:defRPr>
            </a:pPr>
            <a:r>
              <a:t>Verificar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6324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Medir resultados</a:t>
            </a:r>
            <a:br/>
            <a:r>
              <a:t>con datos reales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8404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  <a:latin typeface="Calibri"/>
              </a:defRPr>
            </a:pPr>
            <a:r>
              <a:t>Power 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8A96A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1828800"/>
            <a:ext cx="26060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78440" y="201168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20391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6060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Actuar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06324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Ajustar y mejorar</a:t>
            </a:r>
            <a:br/>
            <a:r>
              <a:t>el proceso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46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5568"/>
                </a:solidFill>
                <a:latin typeface="Calibri"/>
              </a:defRPr>
            </a:pPr>
            <a:r>
              <a:t>ISELIN ya trabaja con mejora continua.</a:t>
            </a:r>
            <a:br/>
            <a:r>
              <a:t>Power BI se suma como la herramienta que permite verificar con datos reales si las acciones dan resultado.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2A3A"/>
                </a:solidFill>
                <a:latin typeface="Calibri"/>
              </a:defRPr>
            </a:pPr>
            <a:r>
              <a:t>Del Excel a Power BI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6A6"/>
                </a:solidFill>
                <a:latin typeface="Calibri"/>
              </a:defRPr>
            </a:pPr>
            <a:r>
              <a:t>El proceso de carga en 3 pasos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520440" cy="34747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91640"/>
            <a:ext cx="45720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Extraer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2A3A"/>
                </a:solidFill>
                <a:latin typeface="Calibri"/>
              </a:defRPr>
            </a:pPr>
            <a:r>
              <a:t>Sacar los datos desde</a:t>
            </a:r>
            <a:br/>
            <a:r>
              <a:t>Excel, Wara u otra fuente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474720"/>
            <a:ext cx="3108960" cy="1270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6A6"/>
                </a:solidFill>
                <a:latin typeface="Calibri"/>
              </a:defRPr>
            </a:pPr>
            <a:r>
              <a:t>En ISELIN: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Los archivos Excel de ISELIN</a:t>
            </a:r>
            <a:br/>
            <a:r>
              <a:t>son el punto de partida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926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554480"/>
            <a:ext cx="3520440" cy="347472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3440" y="1691640"/>
            <a:ext cx="457200" cy="457200"/>
          </a:xfrm>
          <a:prstGeom prst="round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7190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ADA4"/>
                </a:solidFill>
                <a:latin typeface="Calibri"/>
              </a:defRPr>
            </a:pPr>
            <a:r>
              <a:t>Transformar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240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2A3A"/>
                </a:solidFill>
                <a:latin typeface="Calibri"/>
              </a:defRPr>
            </a:pPr>
            <a:r>
              <a:t>Limpiar, corregir formatos,</a:t>
            </a:r>
            <a:br/>
            <a:r>
              <a:t>eliminar datos innecesarios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3474720"/>
            <a:ext cx="3108960" cy="1270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3657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6A6"/>
                </a:solidFill>
                <a:latin typeface="Calibri"/>
              </a:defRPr>
            </a:pPr>
            <a:r>
              <a:t>En ISELIN: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931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Power Query es el "taller mecánico"</a:t>
            </a:r>
            <a:br/>
            <a:r>
              <a:t>donde se preparan los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926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AADA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1554480"/>
            <a:ext cx="3520440" cy="3474720"/>
          </a:xfrm>
          <a:prstGeom prst="roundRect">
            <a:avLst/>
          </a:prstGeom>
          <a:solidFill>
            <a:srgbClr val="EAFBF0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58200" y="169164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17190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Cargar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240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2A3A"/>
                </a:solidFill>
                <a:latin typeface="Calibri"/>
              </a:defRPr>
            </a:pPr>
            <a:r>
              <a:t>Meter los datos limpios en</a:t>
            </a:r>
            <a:br/>
            <a:r>
              <a:t>Power BI, listos para usar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3474720"/>
            <a:ext cx="3108960" cy="1270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657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6A6"/>
                </a:solidFill>
                <a:latin typeface="Calibri"/>
              </a:defRPr>
            </a:pPr>
            <a:r>
              <a:t>En ISELIN: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931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Los datos quedan disponibles</a:t>
            </a:r>
            <a:br/>
            <a:r>
              <a:t>para crear visualizaciones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394960"/>
            <a:ext cx="4114800" cy="3657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440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t>Wiki Cap. 3: La Fábrica de Datos — ETL y ELT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2A3A"/>
                </a:solidFill>
                <a:latin typeface="Calibri"/>
              </a:defRPr>
            </a:pPr>
            <a:r>
              <a:t>Tipos de tablas en Power BI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6A6"/>
                </a:solidFill>
                <a:latin typeface="Calibri"/>
              </a:defRPr>
            </a:pPr>
            <a:r>
              <a:t>Los datos se organizan en dos tipos de tablas que se conectan entre sí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029200" cy="38404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572768"/>
            <a:ext cx="41148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9164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A3A"/>
                </a:solidFill>
                <a:latin typeface="Calibri"/>
              </a:defRPr>
            </a:pPr>
            <a:r>
              <a:t>Tablas de datos principales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11680"/>
            <a:ext cx="4709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Contienen los registros de eventos.</a:t>
            </a:r>
            <a:br/>
            <a:r>
              <a:t>Cada fila es algo que pasó.</a:t>
            </a:r>
            <a:br/>
            <a:br/>
            <a:r>
              <a:t>Ejemplos en ISELIN:</a:t>
            </a:r>
            <a:br/>
            <a:r>
              <a:t>  ·  Cada viaje realizado</a:t>
            </a:r>
            <a:br/>
            <a:r>
              <a:t>  ·  Cada boleto vendido</a:t>
            </a:r>
            <a:br/>
            <a:r>
              <a:t>  ·  Cada siniestro registrado</a:t>
            </a:r>
            <a:br/>
            <a:r>
              <a:t>  ·  Cada gasto operativo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029200" cy="384048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1572768"/>
            <a:ext cx="41148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69164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A3A"/>
                </a:solidFill>
                <a:latin typeface="Calibri"/>
              </a:defRPr>
            </a:pPr>
            <a:r>
              <a:t>Tablas de referencia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011680"/>
            <a:ext cx="4709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Contienen datos descriptivos que</a:t>
            </a:r>
            <a:br/>
            <a:r>
              <a:t>no cambian seguido. Sirven para</a:t>
            </a:r>
            <a:br/>
            <a:r>
              <a:t>clasificar y agrupar.</a:t>
            </a:r>
            <a:br/>
            <a:br/>
            <a:r>
              <a:t>Ejemplos en ISELIN:</a:t>
            </a:r>
            <a:br/>
            <a:r>
              <a:t>  ·  Lista de choferes</a:t>
            </a:r>
            <a:br/>
            <a:r>
              <a:t>  ·  Lista de rutas</a:t>
            </a:r>
            <a:br/>
            <a:r>
              <a:t>  ·  Lista de colectivos</a:t>
            </a:r>
            <a:br/>
            <a:r>
              <a:t>  ·  Calendario de fechas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926080"/>
            <a:ext cx="2103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017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6A6"/>
                </a:solidFill>
                <a:latin typeface="Calibri"/>
              </a:defRPr>
            </a:pPr>
            <a:r>
              <a:t>Se conectan por</a:t>
            </a:r>
            <a:br/>
            <a:r>
              <a:t>campos en común</a:t>
            </a:r>
            <a:br/>
            <a:r>
              <a:t>(ej: ID de chofer)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2A3A"/>
                </a:solidFill>
                <a:latin typeface="Calibri"/>
              </a:defRPr>
            </a:pPr>
            <a:r>
              <a:t>¿Cómo funcionan los filtros?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6A6"/>
                </a:solidFill>
                <a:latin typeface="Calibri"/>
              </a:defRPr>
            </a:pPr>
            <a:r>
              <a:t>Al aplicar un filtro, Power BI recalcula todo automáticamente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0292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55648"/>
            <a:ext cx="411480" cy="38100"/>
          </a:xfrm>
          <a:prstGeom prst="rect">
            <a:avLst/>
          </a:prstGeom>
          <a:solidFill>
            <a:srgbClr val="8A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7452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A3A"/>
                </a:solidFill>
                <a:latin typeface="Calibri"/>
              </a:defRPr>
            </a:pPr>
            <a:r>
              <a:t>Sin filtro — Toda la empresa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94560"/>
            <a:ext cx="4709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Total viajes:            12.500</a:t>
            </a:r>
            <a:br/>
            <a:r>
              <a:t>Km recorridos:       890.000</a:t>
            </a:r>
            <a:br/>
            <a:r>
              <a:t>Siniestros:                    45</a:t>
            </a:r>
            <a:br/>
            <a:r>
              <a:t>Consumo gasoil:    320.000 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029200" cy="347472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1755648"/>
            <a:ext cx="41148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87452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A3A"/>
                </a:solidFill>
                <a:latin typeface="Calibri"/>
              </a:defRPr>
            </a:pPr>
            <a:r>
              <a:t>Filtro aplicado: Ruta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194560"/>
            <a:ext cx="4709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Total viajes:              1.800</a:t>
            </a:r>
            <a:br/>
            <a:r>
              <a:t>Km recorridos:       125.000</a:t>
            </a:r>
            <a:br/>
            <a:r>
              <a:t>Siniestros:                      6</a:t>
            </a:r>
            <a:br/>
            <a:r>
              <a:t>Consumo gasoil:      47.000 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98DB"/>
                </a:solidFill>
                <a:latin typeface="Calibri"/>
              </a:defRPr>
            </a:pPr>
            <a:r>
              <a:t>filtrar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5568"/>
                </a:solidFill>
                <a:latin typeface="Calibri"/>
              </a:defRPr>
            </a:pPr>
            <a:r>
              <a:t>No hace falta cambiar fórmulas ni tocar los datos. PBI hace todo el trabajo.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2A3A"/>
                </a:solidFill>
                <a:latin typeface="Calibri"/>
              </a:defRPr>
            </a:pPr>
            <a:r>
              <a:t>Estadísticas básicas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6A6"/>
                </a:solidFill>
                <a:latin typeface="Calibri"/>
              </a:defRPr>
            </a:pPr>
            <a:r>
              <a:t>Tres números clave para entender los datos de ISELIN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520440" cy="38404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4572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Promedio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A3A"/>
                </a:solidFill>
                <a:latin typeface="Calibri"/>
              </a:defRPr>
            </a:pPr>
            <a:r>
              <a:t>El valor "medio" de un</a:t>
            </a:r>
            <a:br/>
            <a:r>
              <a:t>conjunto de datos.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840480"/>
            <a:ext cx="3108960" cy="1270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6A6"/>
                </a:solidFill>
                <a:latin typeface="Calibri"/>
              </a:defRPr>
            </a:pPr>
            <a:r>
              <a:t>En ISELIN: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Km promedio recorridos</a:t>
            </a:r>
            <a:br/>
            <a:r>
              <a:t>por colectivo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554480"/>
            <a:ext cx="3520440" cy="384048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691640"/>
            <a:ext cx="45720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828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ADA4"/>
                </a:solidFill>
                <a:latin typeface="Calibri"/>
              </a:defRPr>
            </a:pPr>
            <a:r>
              <a:t>Mediana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A3A"/>
                </a:solidFill>
                <a:latin typeface="Calibri"/>
              </a:defRPr>
            </a:pPr>
            <a:r>
              <a:t>El valor del medio cuando</a:t>
            </a:r>
            <a:br/>
            <a:r>
              <a:t>ordenamos los datos.</a:t>
            </a:r>
            <a:br/>
            <a:r>
              <a:t>No se distorsiona por extremos.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3840480"/>
            <a:ext cx="3108960" cy="1270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977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6A6"/>
                </a:solidFill>
                <a:latin typeface="Calibri"/>
              </a:defRPr>
            </a:pPr>
            <a:r>
              <a:t>En ISELIN: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2519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Tiempo mediano de</a:t>
            </a:r>
            <a:br/>
            <a:r>
              <a:t>demora en una ruta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554480"/>
            <a:ext cx="3520440" cy="38404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58200" y="1691640"/>
            <a:ext cx="4572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1828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Dispersión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A3A"/>
                </a:solidFill>
                <a:latin typeface="Calibri"/>
              </a:defRPr>
            </a:pPr>
            <a:r>
              <a:t>Cuánto varían los datos.</a:t>
            </a:r>
            <a:br/>
            <a:r>
              <a:t>Mucha dispersión = datos</a:t>
            </a:r>
            <a:br/>
            <a:r>
              <a:t>muy diferentes entre sí.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3840480"/>
            <a:ext cx="3108960" cy="1270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977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6A6"/>
                </a:solidFill>
                <a:latin typeface="Calibri"/>
              </a:defRPr>
            </a:pPr>
            <a:r>
              <a:t>En ISELIN: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2519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Variabilidad del consumo</a:t>
            </a:r>
            <a:br/>
            <a:r>
              <a:t>de gasoil entre colectivos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2A3A"/>
                </a:solidFill>
                <a:latin typeface="Calibri"/>
              </a:defRPr>
            </a:pPr>
            <a:r>
              <a:t>Power BI: demo en vivo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6A6"/>
                </a:solidFill>
                <a:latin typeface="Calibri"/>
              </a:defRPr>
            </a:pPr>
            <a:r>
              <a:t>35 minutos — Conocer la herramienta y cargar datos reales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148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572768"/>
            <a:ext cx="45720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0020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00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Informe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0116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Donde se crean</a:t>
            </a:r>
            <a:br/>
            <a:r>
              <a:t>las visualizaciones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1463040"/>
            <a:ext cx="2148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18688" y="1572768"/>
            <a:ext cx="457200" cy="457200"/>
          </a:xfrm>
          <a:prstGeom prst="round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8688" y="160020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1600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ADA4"/>
                </a:solidFill>
                <a:latin typeface="Calibri"/>
              </a:defRPr>
            </a:pPr>
            <a:r>
              <a:t>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20116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Donde se ven</a:t>
            </a:r>
            <a:br/>
            <a:r>
              <a:t>las tablas cargadas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1463040"/>
            <a:ext cx="2148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96128" y="1572768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96128" y="160020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600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Modelo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20116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Donde se conectan</a:t>
            </a:r>
            <a:br/>
            <a:r>
              <a:t>las tablas entre sí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1463040"/>
            <a:ext cx="3840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9560" y="1572768"/>
            <a:ext cx="41148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36992" y="16916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Pasos de la práctica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2011680"/>
            <a:ext cx="3520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1.  Cargar un Excel real de ISELIN</a:t>
            </a:r>
            <a:br/>
            <a:br/>
            <a:r>
              <a:t>2.  Vista previa en Power Query</a:t>
            </a:r>
            <a:br/>
            <a:br/>
            <a:r>
              <a:t>3.  Ajustar tipos de datos</a:t>
            </a:r>
            <a:br/>
            <a:br/>
            <a:r>
              <a:t>4.  Cerrar y aplicar</a:t>
            </a:r>
            <a:br/>
            <a:br/>
            <a:r>
              <a:t>5.  Crear el primer gráfico de barras</a:t>
            </a:r>
            <a:br/>
            <a:r>
              <a:t>     con un indicador real de ISELIN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200400"/>
            <a:ext cx="6583680" cy="3017520"/>
          </a:xfrm>
          <a:prstGeom prst="roundRect">
            <a:avLst/>
          </a:prstGeom>
          <a:solidFill>
            <a:srgbClr val="E8EBF0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6A6"/>
                </a:solidFill>
                <a:latin typeface="Calibri"/>
              </a:defRPr>
            </a:pPr>
            <a:r>
              <a:t>[ Espacio para captura de pantalla de PBI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2A3A"/>
                </a:solidFill>
                <a:latin typeface="Calibri"/>
              </a:defRPr>
            </a:pPr>
            <a:r>
              <a:t>Mapa de ruta: los 4 encuentros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3291840"/>
            <a:ext cx="9418320" cy="38100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20240" y="3154680"/>
            <a:ext cx="320040" cy="3200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2468880" cy="1463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98DB"/>
                </a:solidFill>
                <a:latin typeface="Calibri"/>
              </a:defRPr>
            </a:pPr>
            <a:r>
              <a:t>E1 — Hoy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6A6"/>
                </a:solidFill>
                <a:latin typeface="Calibri"/>
              </a:defRPr>
            </a:pPr>
            <a:r>
              <a:t>16/04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8"/>
                </a:solidFill>
                <a:latin typeface="Calibri"/>
              </a:defRPr>
            </a:pPr>
            <a:r>
              <a:t>Fundamentos, Calidad</a:t>
            </a:r>
            <a:br/>
            <a:r>
              <a:t>y Primer Contacto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3154680"/>
            <a:ext cx="320040" cy="320040"/>
          </a:xfrm>
          <a:prstGeom prst="roundRect">
            <a:avLst/>
          </a:prstGeom>
          <a:solidFill>
            <a:srgbClr val="8A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3320" y="137160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444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AADA4"/>
                </a:solidFill>
                <a:latin typeface="Calibri"/>
              </a:defRPr>
            </a:pPr>
            <a:r>
              <a:t>E2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6A6"/>
                </a:solidFill>
                <a:latin typeface="Calibri"/>
              </a:defRPr>
            </a:pPr>
            <a:r>
              <a:t>21/04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8404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8"/>
                </a:solidFill>
                <a:latin typeface="Calibri"/>
              </a:defRPr>
            </a:pPr>
            <a:r>
              <a:t>Modelo de Datos,</a:t>
            </a:r>
            <a:br/>
            <a:r>
              <a:t>Power Query y</a:t>
            </a:r>
            <a:br/>
            <a:r>
              <a:t>Visualizaciones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0" y="3154680"/>
            <a:ext cx="320040" cy="320040"/>
          </a:xfrm>
          <a:prstGeom prst="roundRect">
            <a:avLst/>
          </a:prstGeom>
          <a:solidFill>
            <a:srgbClr val="8A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137160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444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98DB"/>
                </a:solidFill>
                <a:latin typeface="Calibri"/>
              </a:defRPr>
            </a:pPr>
            <a:r>
              <a:t>E3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6A6"/>
                </a:solidFill>
                <a:latin typeface="Calibri"/>
              </a:defRPr>
            </a:pPr>
            <a:r>
              <a:t>23/04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404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8"/>
                </a:solidFill>
                <a:latin typeface="Calibri"/>
              </a:defRPr>
            </a:pPr>
            <a:r>
              <a:t>Fórmulas DAX,</a:t>
            </a:r>
            <a:br/>
            <a:r>
              <a:t>Dashboards y</a:t>
            </a:r>
            <a:br/>
            <a:r>
              <a:t>Storytelling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6999" y="3154680"/>
            <a:ext cx="320040" cy="320040"/>
          </a:xfrm>
          <a:prstGeom prst="roundRect">
            <a:avLst/>
          </a:prstGeom>
          <a:solidFill>
            <a:srgbClr val="8A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81159" y="137160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59" y="1444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AADA4"/>
                </a:solidFill>
                <a:latin typeface="Calibri"/>
              </a:defRPr>
            </a:pPr>
            <a:r>
              <a:t>E4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6A6"/>
                </a:solidFill>
                <a:latin typeface="Calibri"/>
              </a:defRPr>
            </a:pPr>
            <a:r>
              <a:t>30/04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59" y="38404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8"/>
                </a:solidFill>
                <a:latin typeface="Calibri"/>
              </a:defRPr>
            </a:pPr>
            <a:r>
              <a:t>Interpretación,</a:t>
            </a:r>
            <a:br/>
            <a:r>
              <a:t>Publicación y</a:t>
            </a:r>
            <a:br/>
            <a:r>
              <a:t>Actualización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6A6"/>
                </a:solidFill>
                <a:latin typeface="Calibri"/>
              </a:defRPr>
            </a:pPr>
            <a:r>
              <a:t>5 días entre E1 y E2  ·  2 días entre E2 y E3  ·  7 días entre E3 y E4  —  cada intervalo es oportunidad de práctica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2A3A"/>
                </a:solidFill>
                <a:latin typeface="Calibri"/>
              </a:defRPr>
            </a:pPr>
            <a:r>
              <a:t>Tarea para el Encuentro 2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6A6"/>
                </a:solidFill>
                <a:latin typeface="Calibri"/>
              </a:defRPr>
            </a:pPr>
            <a:r>
              <a:t>Para practicar antes del martes 21/04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68580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664208"/>
            <a:ext cx="41148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6537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A3A"/>
                </a:solidFill>
                <a:latin typeface="Calibri"/>
              </a:defRPr>
            </a:pPr>
            <a:r>
              <a:t>Abrir Power BI Desktop y cargar un Excel de tu área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03120"/>
            <a:ext cx="6537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5568"/>
                </a:solidFill>
                <a:latin typeface="Calibri"/>
              </a:defRPr>
            </a:pPr>
            <a:r>
              <a:t>1.  Abrir Power BI Desktop</a:t>
            </a:r>
            <a:br/>
            <a:br/>
            <a:r>
              <a:t>2.  Ir a Inicio → Obtener datos → Excel</a:t>
            </a:r>
            <a:br/>
            <a:br/>
            <a:r>
              <a:t>3.  Seleccionar un archivo Excel de tu área</a:t>
            </a:r>
            <a:br/>
            <a:br/>
            <a:r>
              <a:t>4.  Revisar la vista previa y hacer clic en "Cargar"</a:t>
            </a:r>
            <a:br/>
            <a:br/>
            <a:r>
              <a:t>5.  Explorar los datos en la vista de Datos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5448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1664208"/>
            <a:ext cx="411480" cy="38100"/>
          </a:xfrm>
          <a:prstGeom prst="rect">
            <a:avLst/>
          </a:prstGeom>
          <a:solidFill>
            <a:srgbClr val="8A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7830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3A"/>
                </a:solidFill>
                <a:latin typeface="Calibri"/>
              </a:defRPr>
            </a:pPr>
            <a:r>
              <a:t>Si tenés dudas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10312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No te preocupes si algo</a:t>
            </a:r>
            <a:br/>
            <a:r>
              <a:t>no funciona.</a:t>
            </a:r>
            <a:br/>
            <a:br/>
            <a:r>
              <a:t>Arrancamos el Encuentro 2</a:t>
            </a:r>
            <a:br/>
            <a:r>
              <a:t>resolviendo dudas y</a:t>
            </a:r>
            <a:br/>
            <a:r>
              <a:t>errores comunes.</a:t>
            </a:r>
            <a:br/>
            <a:br/>
            <a:r>
              <a:t>Lo importante es intentarlo.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A3A"/>
                </a:solidFill>
                <a:latin typeface="Calibri"/>
              </a:defRPr>
            </a:pPr>
            <a:r>
              <a:t>Entregables que van a recibir: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45720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3309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3218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3A"/>
                </a:solidFill>
                <a:latin typeface="Calibri"/>
              </a:defRPr>
            </a:pPr>
            <a:r>
              <a:t>Archivo .pbix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3400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6A6"/>
                </a:solidFill>
                <a:latin typeface="Calibri"/>
              </a:defRPr>
            </a:pPr>
            <a:r>
              <a:t>Con la primera tabla cargada y una visualización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457200" cy="457200"/>
          </a:xfrm>
          <a:prstGeom prst="round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7881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7790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3A"/>
                </a:solidFill>
                <a:latin typeface="Calibri"/>
              </a:defRPr>
            </a:pPr>
            <a:r>
              <a:t>Guía de conceptos fundamentales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7972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6A6"/>
                </a:solidFill>
                <a:latin typeface="Calibri"/>
              </a:defRPr>
            </a:pPr>
            <a:r>
              <a:t>ETL, tablas, filtros, estadísticas, calidad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621792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2453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62362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3A"/>
                </a:solidFill>
                <a:latin typeface="Calibri"/>
              </a:defRPr>
            </a:pPr>
            <a:r>
              <a:t>Guía de instalación de PBI Desktop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62544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6A6"/>
                </a:solidFill>
                <a:latin typeface="Calibri"/>
              </a:defRPr>
            </a:pPr>
            <a:r>
              <a:t>Para que puedan practicar por su cuenta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8FA8BF"/>
                </a:solidFill>
                <a:latin typeface="Calibri"/>
              </a:rPr>
              <a:t>data </a:t>
            </a:r>
            <a:r>
              <a:rPr sz="2000" b="1">
                <a:solidFill>
                  <a:srgbClr val="4AADA4"/>
                </a:solidFill>
                <a:latin typeface="Calibri"/>
              </a:rPr>
              <a:t>oilers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743200"/>
            <a:ext cx="91440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017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¡Gracias!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FA8BF"/>
                </a:solidFill>
                <a:latin typeface="Calibri"/>
              </a:defRPr>
            </a:pPr>
            <a:r>
              <a:t>Nos vemos en el Encuentro 2 — Martes 21 de abril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ADA4"/>
                </a:solidFill>
                <a:latin typeface="Calibri"/>
              </a:defRPr>
            </a:pPr>
            <a:r>
              <a:t>Modelo de Datos, Power Query y Primeras Visualizaciones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94"/>
                </a:solidFill>
                <a:latin typeface="Calibri"/>
              </a:defRPr>
            </a:pPr>
            <a:r>
              <a:t>¿Preguntas? Escribinos por el canal de Teams/WhatsApp del programa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