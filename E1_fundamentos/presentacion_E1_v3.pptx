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7A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2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8FA8BF"/>
                </a:solidFill>
                <a:latin typeface="Calibri"/>
              </a:rPr>
              <a:t>data </a:t>
            </a:r>
            <a:r>
              <a:rPr sz="2000" b="1" dirty="0">
                <a:solidFill>
                  <a:srgbClr val="4AADA4"/>
                </a:solidFill>
                <a:latin typeface="Calibri"/>
              </a:rPr>
              <a:t>oilers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20"/>
            <a:ext cx="128016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92808"/>
            <a:ext cx="1280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400" dirty="0"/>
              <a:t>ENCUENTRO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514600"/>
            <a:ext cx="91440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19" y="2697480"/>
            <a:ext cx="103672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sz="4800" dirty="0" err="1"/>
              <a:t>Fundamentos</a:t>
            </a:r>
            <a:r>
              <a:rPr sz="4800" dirty="0"/>
              <a:t>, </a:t>
            </a:r>
            <a:r>
              <a:rPr sz="4800" dirty="0" err="1"/>
              <a:t>Calidad</a:t>
            </a:r>
            <a:r>
              <a:rPr sz="4800" dirty="0"/>
              <a:t/>
            </a:r>
            <a:br>
              <a:rPr sz="4800" dirty="0"/>
            </a:br>
            <a:r>
              <a:rPr sz="4800" dirty="0"/>
              <a:t>y Primer </a:t>
            </a:r>
            <a:r>
              <a:rPr sz="4800" dirty="0" err="1"/>
              <a:t>Contacto</a:t>
            </a:r>
            <a:r>
              <a:rPr sz="4800" dirty="0"/>
              <a:t> </a:t>
            </a:r>
            <a:r>
              <a:rPr sz="4800" dirty="0" smtClean="0"/>
              <a:t>con</a:t>
            </a:r>
            <a:r>
              <a:rPr lang="es-ES" sz="4800" dirty="0" smtClean="0"/>
              <a:t> </a:t>
            </a:r>
            <a:r>
              <a:rPr sz="4800" dirty="0" smtClean="0"/>
              <a:t>Power </a:t>
            </a:r>
            <a:r>
              <a:rPr sz="4800" dirty="0"/>
              <a:t>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FA8BF"/>
                </a:solidFill>
                <a:latin typeface="Calibri"/>
              </a:defRPr>
            </a:pPr>
            <a:r>
              <a:rPr sz="2400" dirty="0" err="1"/>
              <a:t>Capacitación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</a:t>
            </a:r>
            <a:r>
              <a:rPr sz="2400" dirty="0" err="1"/>
              <a:t>Análisis</a:t>
            </a:r>
            <a:r>
              <a:rPr sz="2400" dirty="0"/>
              <a:t> de </a:t>
            </a:r>
            <a:r>
              <a:rPr sz="2400" dirty="0" err="1"/>
              <a:t>Datos</a:t>
            </a:r>
            <a:r>
              <a:rPr sz="2400" dirty="0"/>
              <a:t> · ISELIN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776" y="298930"/>
            <a:ext cx="1212979" cy="682300"/>
          </a:xfrm>
          <a:prstGeom prst="rect">
            <a:avLst/>
          </a:prstGeom>
        </p:spPr>
      </p:pic>
      <p:sp>
        <p:nvSpPr>
          <p:cNvPr id="11" name="TextBox 7"/>
          <p:cNvSpPr txBox="1"/>
          <p:nvPr/>
        </p:nvSpPr>
        <p:spPr>
          <a:xfrm>
            <a:off x="502920" y="6112846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FA8BF"/>
                </a:solidFill>
                <a:latin typeface="Calibri"/>
              </a:defRPr>
            </a:pPr>
            <a:r>
              <a:rPr lang="es-ES" i="1" dirty="0" smtClean="0"/>
              <a:t>Abril 2026</a:t>
            </a:r>
            <a:endParaRPr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Agenda del día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7A94"/>
                </a:solidFill>
                <a:latin typeface="Calibri"/>
              </a:defRPr>
            </a:pPr>
            <a:r>
              <a:t>Lo que vamos a recorrer en estas 2 horas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5010539" cy="68580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63500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44499" y="1508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Apertura</a:t>
            </a:r>
            <a:r>
              <a:rPr dirty="0"/>
              <a:t> y </a:t>
            </a:r>
            <a:r>
              <a:rPr dirty="0" err="1"/>
              <a:t>contexto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944499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4"/>
                </a:solidFill>
                <a:latin typeface="Calibri"/>
              </a:defRPr>
            </a:pPr>
            <a:r>
              <a:t>Presentación del programa y expectativas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240280"/>
            <a:ext cx="5010539" cy="68580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2240280"/>
            <a:ext cx="63500" cy="6858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23774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ADA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4499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Análisis de datos y calidad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44499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4"/>
                </a:solidFill>
                <a:latin typeface="Calibri"/>
              </a:defRPr>
            </a:pPr>
            <a:r>
              <a:t>Por qué importa y cómo se conecta con ISELIN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063240"/>
            <a:ext cx="5010539" cy="68580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3063240"/>
            <a:ext cx="63500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32004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4499" y="3154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Conceptos fundamentales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4499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4"/>
                </a:solidFill>
                <a:latin typeface="Calibri"/>
              </a:defRPr>
            </a:pPr>
            <a:r>
              <a:t>ETL, tablas, filtros y estadísticas básicas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886200"/>
            <a:ext cx="5010539" cy="68580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" y="3886200"/>
            <a:ext cx="63500" cy="6858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40233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ADA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4499" y="3977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Power BI: demo en vivo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44499" y="4251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4"/>
                </a:solidFill>
                <a:latin typeface="Calibri"/>
              </a:defRPr>
            </a:pPr>
            <a:r>
              <a:t>Conocer la herramienta y cargar datos reales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709160"/>
            <a:ext cx="5010539" cy="68580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4400" y="4709160"/>
            <a:ext cx="63500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" y="48463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4499" y="4800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Cierre y tarea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4499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4"/>
                </a:solidFill>
                <a:latin typeface="Calibri"/>
              </a:defRPr>
            </a:pPr>
            <a:r>
              <a:t>Mapa de ruta y preparación para el Encuentro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532120"/>
            <a:ext cx="5010539" cy="68580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14400" y="5532120"/>
            <a:ext cx="63500" cy="685800"/>
          </a:xfrm>
          <a:prstGeom prst="rect">
            <a:avLst/>
          </a:prstGeom>
          <a:solidFill>
            <a:srgbClr val="5A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97280" y="56692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A7A94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4499" y="5623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Tiempo extra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4499" y="5897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4"/>
                </a:solidFill>
                <a:latin typeface="Calibri"/>
              </a:defRPr>
            </a:pPr>
            <a:r>
              <a:t>Preguntas adicionales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6"/>
          <p:cNvSpPr/>
          <p:nvPr/>
        </p:nvSpPr>
        <p:spPr>
          <a:xfrm>
            <a:off x="4366260" y="2328393"/>
            <a:ext cx="3520440" cy="2531692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6"/>
          <p:cNvSpPr/>
          <p:nvPr/>
        </p:nvSpPr>
        <p:spPr>
          <a:xfrm>
            <a:off x="8165592" y="2289859"/>
            <a:ext cx="3520440" cy="2570226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6"/>
          <p:cNvSpPr/>
          <p:nvPr/>
        </p:nvSpPr>
        <p:spPr>
          <a:xfrm>
            <a:off x="566928" y="2328394"/>
            <a:ext cx="3520440" cy="2531691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¿Por qué importa el análisis de datos?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5738" y="1181240"/>
            <a:ext cx="56123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7A94"/>
                </a:solidFill>
                <a:latin typeface="Calibri"/>
              </a:defRPr>
            </a:pPr>
            <a:r>
              <a:rPr sz="2000" dirty="0"/>
              <a:t>De la </a:t>
            </a:r>
            <a:r>
              <a:rPr sz="2000" dirty="0" err="1"/>
              <a:t>intuición</a:t>
            </a:r>
            <a:r>
              <a:rPr sz="2000" dirty="0"/>
              <a:t> a las </a:t>
            </a:r>
            <a:r>
              <a:rPr sz="2000" dirty="0" err="1"/>
              <a:t>decisiones</a:t>
            </a:r>
            <a:r>
              <a:rPr sz="2000" dirty="0"/>
              <a:t> </a:t>
            </a:r>
            <a:r>
              <a:rPr sz="2000" dirty="0" err="1"/>
              <a:t>basadas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</a:t>
            </a:r>
            <a:r>
              <a:rPr sz="2000" dirty="0" err="1"/>
              <a:t>evidencia</a:t>
            </a:r>
            <a:endParaRPr sz="2000" dirty="0"/>
          </a:p>
        </p:txBody>
      </p:sp>
      <p:sp>
        <p:nvSpPr>
          <p:cNvPr id="8" name="Rectangle 7"/>
          <p:cNvSpPr/>
          <p:nvPr/>
        </p:nvSpPr>
        <p:spPr>
          <a:xfrm>
            <a:off x="704088" y="2486362"/>
            <a:ext cx="41148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654191"/>
            <a:ext cx="3200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es-ES" sz="2000" dirty="0" smtClean="0"/>
              <a:t>Toma de decisiones basada en evidencia</a:t>
            </a:r>
            <a:endParaRPr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3474183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8FA8BF"/>
                </a:solidFill>
                <a:latin typeface="Calibri"/>
              </a:defRPr>
            </a:pPr>
            <a:r>
              <a:rPr lang="es-ES" sz="1600" dirty="0"/>
              <a:t>Adiós a las </a:t>
            </a:r>
            <a:r>
              <a:rPr lang="es-ES" sz="1600" dirty="0" smtClean="0"/>
              <a:t>suposiciones</a:t>
            </a: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8FA8BF"/>
                </a:solidFill>
                <a:latin typeface="Calibri"/>
              </a:defRPr>
            </a:pPr>
            <a:r>
              <a:rPr lang="es-ES" sz="1600" dirty="0"/>
              <a:t>Menos errores, menos </a:t>
            </a:r>
            <a:r>
              <a:rPr lang="es-ES" sz="1600" dirty="0" smtClean="0"/>
              <a:t>riesgos</a:t>
            </a: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8FA8BF"/>
                </a:solidFill>
                <a:latin typeface="Calibri"/>
              </a:defRPr>
            </a:pPr>
            <a:r>
              <a:rPr lang="es-ES" sz="1600" dirty="0"/>
              <a:t>Respaldo </a:t>
            </a:r>
            <a:r>
              <a:rPr lang="es-ES" sz="1600" dirty="0" smtClean="0"/>
              <a:t>real</a:t>
            </a:r>
            <a:endParaRPr sz="1600" dirty="0"/>
          </a:p>
        </p:txBody>
      </p:sp>
      <p:sp>
        <p:nvSpPr>
          <p:cNvPr id="12" name="Rectangle 11"/>
          <p:cNvSpPr/>
          <p:nvPr/>
        </p:nvSpPr>
        <p:spPr>
          <a:xfrm>
            <a:off x="4498848" y="2486362"/>
            <a:ext cx="41148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605234"/>
            <a:ext cx="3200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es-ES" sz="2000" b="1" dirty="0"/>
              <a:t>Optimización de la Eficiencia Operativa</a:t>
            </a:r>
            <a:endParaRPr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4498848" y="3362077"/>
            <a:ext cx="32927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8FA8BF"/>
                </a:solidFill>
                <a:latin typeface="Calibri"/>
              </a:defRPr>
            </a:pPr>
            <a:r>
              <a:rPr lang="es-ES" sz="1600" dirty="0"/>
              <a:t>Detectar pérdidas </a:t>
            </a:r>
            <a:r>
              <a:rPr lang="es-ES" sz="1600" dirty="0" smtClean="0"/>
              <a:t>invisibles</a:t>
            </a: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8FA8BF"/>
                </a:solidFill>
                <a:latin typeface="Calibri"/>
              </a:defRPr>
            </a:pPr>
            <a:r>
              <a:rPr lang="es-ES" sz="1600" dirty="0"/>
              <a:t>Procesos más </a:t>
            </a:r>
            <a:r>
              <a:rPr lang="es-ES" sz="1600" dirty="0" smtClean="0"/>
              <a:t>ágiles</a:t>
            </a: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8FA8BF"/>
                </a:solidFill>
                <a:latin typeface="Calibri"/>
              </a:defRPr>
            </a:pPr>
            <a:r>
              <a:rPr lang="es-ES" sz="1600" dirty="0"/>
              <a:t>Cuidar nuestras </a:t>
            </a:r>
            <a:r>
              <a:rPr lang="es-ES" sz="1600" dirty="0" smtClean="0"/>
              <a:t>herramientas</a:t>
            </a:r>
            <a:endParaRPr sz="1600" dirty="0"/>
          </a:p>
        </p:txBody>
      </p:sp>
      <p:sp>
        <p:nvSpPr>
          <p:cNvPr id="16" name="Rectangle 15"/>
          <p:cNvSpPr/>
          <p:nvPr/>
        </p:nvSpPr>
        <p:spPr>
          <a:xfrm>
            <a:off x="8293608" y="2486362"/>
            <a:ext cx="41148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605234"/>
            <a:ext cx="3200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es-ES" sz="2000" b="1" dirty="0"/>
              <a:t>Rentabilidad Estratégica y Control de Gestión</a:t>
            </a:r>
            <a:endParaRPr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8321040" y="3474219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8FA8BF"/>
                </a:solidFill>
                <a:latin typeface="Calibri"/>
              </a:defRPr>
            </a:pPr>
            <a:r>
              <a:rPr lang="es-ES" sz="1600" dirty="0"/>
              <a:t>Información al </a:t>
            </a:r>
            <a:r>
              <a:rPr lang="es-ES" sz="1600" dirty="0" smtClean="0"/>
              <a:t>instante</a:t>
            </a: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8FA8BF"/>
                </a:solidFill>
                <a:latin typeface="Calibri"/>
              </a:defRPr>
            </a:pPr>
            <a:r>
              <a:rPr lang="es-ES" sz="1600" dirty="0"/>
              <a:t>Control </a:t>
            </a:r>
            <a:r>
              <a:rPr lang="es-ES" sz="1600" dirty="0" smtClean="0"/>
              <a:t>total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8FA8BF"/>
                </a:solidFill>
                <a:latin typeface="Calibri"/>
              </a:defRPr>
            </a:pPr>
            <a:r>
              <a:rPr lang="es-ES" sz="1600" dirty="0" smtClean="0"/>
              <a:t>Previsión </a:t>
            </a:r>
            <a:endParaRPr sz="1600" dirty="0"/>
          </a:p>
        </p:txBody>
      </p:sp>
      <p:sp>
        <p:nvSpPr>
          <p:cNvPr id="19" name="Rounded Rectangle 18"/>
          <p:cNvSpPr/>
          <p:nvPr/>
        </p:nvSpPr>
        <p:spPr>
          <a:xfrm>
            <a:off x="685800" y="6354172"/>
            <a:ext cx="4114800" cy="365760"/>
          </a:xfrm>
          <a:prstGeom prst="roundRect">
            <a:avLst/>
          </a:prstGeom>
          <a:solidFill>
            <a:srgbClr val="12233D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63998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rPr dirty="0"/>
              <a:t>Wiki Cap. 1: La </a:t>
            </a:r>
            <a:r>
              <a:rPr dirty="0" err="1"/>
              <a:t>Evolución</a:t>
            </a:r>
            <a:r>
              <a:rPr dirty="0"/>
              <a:t> de la </a:t>
            </a:r>
            <a:r>
              <a:rPr dirty="0" err="1"/>
              <a:t>Intuición</a:t>
            </a:r>
            <a:r>
              <a:rPr dirty="0"/>
              <a:t> al </a:t>
            </a:r>
            <a:r>
              <a:rPr dirty="0" err="1" smtClean="0"/>
              <a:t>Dato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 datos a decisiones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7A94"/>
                </a:solidFill>
                <a:latin typeface="Calibri"/>
              </a:defRPr>
            </a:pPr>
            <a:r>
              <a:t>La pirámide del conocimiento (DIKW)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6355080"/>
            <a:ext cx="4114800" cy="365760"/>
          </a:xfrm>
          <a:prstGeom prst="roundRect">
            <a:avLst/>
          </a:prstGeom>
          <a:solidFill>
            <a:srgbClr val="12233D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6400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Wiki Cap. 2: Alfabetización de Datos — Pirámide DIKW</a:t>
            </a: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848" y="777240"/>
            <a:ext cx="9736335" cy="53448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Los 4 niveles de análisis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7A94"/>
                </a:solidFill>
                <a:latin typeface="Calibri"/>
              </a:defRPr>
            </a:pPr>
            <a:r>
              <a:t>Cada nivel responde una pregunta diferente sobre el negocio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97480" cy="4114800"/>
          </a:xfrm>
          <a:prstGeom prst="roundRect">
            <a:avLst/>
          </a:prstGeom>
          <a:solidFill>
            <a:srgbClr val="12233D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4572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98DB"/>
                </a:solidFill>
                <a:latin typeface="Calibri"/>
              </a:defRPr>
            </a:pPr>
            <a:r>
              <a:t>Descriptivo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¿Qué pasó?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BF"/>
                </a:solidFill>
                <a:latin typeface="Calibri"/>
              </a:defRPr>
            </a:pPr>
            <a:r>
              <a:t>Reportes, dashboards,</a:t>
            </a:r>
            <a:br/>
            <a:r>
              <a:t>resúmenes de datos</a:t>
            </a:r>
            <a:br/>
            <a:r>
              <a:t>históricos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480560"/>
            <a:ext cx="2377440" cy="127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617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94"/>
                </a:solidFill>
                <a:latin typeface="Calibri"/>
              </a:defRPr>
            </a:pPr>
            <a:r>
              <a:rPr dirty="0" err="1"/>
              <a:t>Donde</a:t>
            </a:r>
            <a:r>
              <a:rPr dirty="0"/>
              <a:t> </a:t>
            </a:r>
            <a:r>
              <a:rPr dirty="0" err="1"/>
              <a:t>arrancamos</a:t>
            </a:r>
            <a:r>
              <a:rPr dirty="0"/>
              <a:t/>
            </a:r>
            <a:br>
              <a:rPr dirty="0"/>
            </a:b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capacitación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3429000" y="1554480"/>
            <a:ext cx="2697480" cy="4114800"/>
          </a:xfrm>
          <a:prstGeom prst="roundRect">
            <a:avLst/>
          </a:prstGeom>
          <a:solidFill>
            <a:srgbClr val="112530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66160" y="1691640"/>
            <a:ext cx="457200" cy="457200"/>
          </a:xfrm>
          <a:prstGeom prst="round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17190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ADA4"/>
                </a:solidFill>
                <a:latin typeface="Calibri"/>
              </a:defRPr>
            </a:pPr>
            <a:r>
              <a:t>Diagnóstico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¿Por qué pasó?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432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BF"/>
                </a:solidFill>
                <a:latin typeface="Calibri"/>
              </a:defRPr>
            </a:pPr>
            <a:r>
              <a:t>Análisis de causas,</a:t>
            </a:r>
            <a:br/>
            <a:r>
              <a:t>correlaciones,</a:t>
            </a:r>
            <a:br/>
            <a:r>
              <a:t>drill-down en reportes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4480560"/>
            <a:ext cx="2377440" cy="127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66160" y="4617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94"/>
                </a:solidFill>
                <a:latin typeface="Calibri"/>
              </a:defRPr>
            </a:pPr>
            <a:r>
              <a:t>Encuentros 2 y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554480"/>
            <a:ext cx="2697480" cy="4114800"/>
          </a:xfrm>
          <a:prstGeom prst="roundRect">
            <a:avLst/>
          </a:prstGeom>
          <a:solidFill>
            <a:srgbClr val="2A1A0F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46520" y="1691640"/>
            <a:ext cx="45720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17190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7E22"/>
                </a:solidFill>
                <a:latin typeface="Calibri"/>
              </a:defRPr>
            </a:pPr>
            <a:r>
              <a:t>Predictivo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¿Qué va a pasar?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432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BF"/>
                </a:solidFill>
                <a:latin typeface="Calibri"/>
              </a:defRPr>
            </a:pPr>
            <a:r>
              <a:t>Modelos estadísticos,</a:t>
            </a:r>
            <a:br/>
            <a:r>
              <a:t>tendencias,</a:t>
            </a:r>
            <a:br/>
            <a:r>
              <a:t>forecasting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4480560"/>
            <a:ext cx="2377440" cy="127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4617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94"/>
                </a:solidFill>
                <a:latin typeface="Calibri"/>
              </a:defRPr>
            </a:pPr>
            <a:r>
              <a:t>Encuentro 4</a:t>
            </a:r>
            <a:br/>
            <a:r>
              <a:t>(introducción)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1554480"/>
            <a:ext cx="2697480" cy="4114800"/>
          </a:xfrm>
          <a:prstGeom prst="roundRect">
            <a:avLst/>
          </a:prstGeom>
          <a:solidFill>
            <a:srgbClr val="12251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326880" y="169164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0" y="17190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  <a:latin typeface="Calibri"/>
              </a:defRPr>
            </a:pPr>
            <a:r>
              <a:t>Prescriptivo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¿Qué debemos hacer?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27432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BF"/>
                </a:solidFill>
                <a:latin typeface="Calibri"/>
              </a:defRPr>
            </a:pPr>
            <a:r>
              <a:t>Recomendaciones</a:t>
            </a:r>
            <a:br/>
            <a:r>
              <a:t>automáticas,</a:t>
            </a:r>
            <a:br/>
            <a:r>
              <a:t>optimización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4480560"/>
            <a:ext cx="2377440" cy="127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0" y="4617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94"/>
                </a:solidFill>
                <a:latin typeface="Calibri"/>
              </a:defRPr>
            </a:pPr>
            <a:r>
              <a:t>Futuro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943600"/>
            <a:ext cx="11064240" cy="254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6035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94"/>
                </a:solidFill>
                <a:latin typeface="Calibri"/>
              </a:defRPr>
            </a:pPr>
            <a:r>
              <a:t>Menor complejidad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6035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7A94"/>
                </a:solidFill>
                <a:latin typeface="Calibri"/>
              </a:defRPr>
            </a:pPr>
            <a:r>
              <a:t>Mayor valor para el negocio 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0" y="5989320"/>
            <a:ext cx="4114800" cy="365760"/>
          </a:xfrm>
          <a:prstGeom prst="roundRect">
            <a:avLst/>
          </a:prstGeom>
          <a:solidFill>
            <a:srgbClr val="12233D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51960" y="60350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Wiki Cap. 5: Analítica para la Acción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Calidad de datos: la base de todo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" y="1021371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7A94"/>
                </a:solidFill>
                <a:latin typeface="Calibri"/>
              </a:defRPr>
            </a:pPr>
            <a:r>
              <a:rPr sz="2000" dirty="0"/>
              <a:t>"</a:t>
            </a:r>
            <a:r>
              <a:rPr sz="2000" dirty="0" err="1"/>
              <a:t>Basura</a:t>
            </a:r>
            <a:r>
              <a:rPr sz="2000" dirty="0"/>
              <a:t> </a:t>
            </a:r>
            <a:r>
              <a:rPr sz="2000" dirty="0" err="1"/>
              <a:t>entra</a:t>
            </a:r>
            <a:r>
              <a:rPr sz="2000" dirty="0"/>
              <a:t>, </a:t>
            </a:r>
            <a:r>
              <a:rPr sz="2000" dirty="0" err="1"/>
              <a:t>basura</a:t>
            </a:r>
            <a:r>
              <a:rPr sz="2000" dirty="0"/>
              <a:t> sale" — Si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datos</a:t>
            </a:r>
            <a:r>
              <a:rPr sz="2000" dirty="0"/>
              <a:t> son </a:t>
            </a:r>
            <a:r>
              <a:rPr sz="2000" dirty="0" err="1"/>
              <a:t>malos</a:t>
            </a:r>
            <a:r>
              <a:rPr sz="2000" dirty="0"/>
              <a:t>, las </a:t>
            </a:r>
            <a:r>
              <a:rPr sz="2000" dirty="0" err="1"/>
              <a:t>decisiones</a:t>
            </a:r>
            <a:r>
              <a:rPr sz="2000" dirty="0"/>
              <a:t> </a:t>
            </a:r>
            <a:r>
              <a:rPr sz="2000" dirty="0" err="1"/>
              <a:t>también</a:t>
            </a:r>
            <a:endParaRPr sz="200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520440" cy="164592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63500" cy="1645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737360"/>
            <a:ext cx="4572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647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755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Precisión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Los datos reflejan</a:t>
            </a:r>
            <a:br/>
            <a:r>
              <a:t>la realidad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554480"/>
            <a:ext cx="3520440" cy="164592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1554480"/>
            <a:ext cx="63500" cy="164592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09160" y="1737360"/>
            <a:ext cx="457200" cy="457200"/>
          </a:xfrm>
          <a:prstGeom prst="round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17647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755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Completitud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No faltan valores</a:t>
            </a:r>
            <a:br/>
            <a:r>
              <a:t>importantes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554480"/>
            <a:ext cx="3520440" cy="164592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21040" y="1554480"/>
            <a:ext cx="6350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03920" y="173736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17647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755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Consistencia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Los mismos datos</a:t>
            </a:r>
            <a:br/>
            <a:r>
              <a:t>no se contradicen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566160"/>
            <a:ext cx="3520440" cy="164592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3566160"/>
            <a:ext cx="63500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4400" y="3749040"/>
            <a:ext cx="45720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7764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767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Validez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114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Formatos y rangos</a:t>
            </a:r>
            <a:br/>
            <a:r>
              <a:t>correctos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3566160"/>
            <a:ext cx="3520440" cy="164592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26280" y="3566160"/>
            <a:ext cx="63500" cy="1645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709160" y="3749040"/>
            <a:ext cx="4572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09160" y="37764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3767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Unicidad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114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Sin registros</a:t>
            </a:r>
            <a:br/>
            <a:r>
              <a:t>duplicados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3566160"/>
            <a:ext cx="3520440" cy="164592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21040" y="3566160"/>
            <a:ext cx="63500" cy="164592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503920" y="3749040"/>
            <a:ext cx="457200" cy="457200"/>
          </a:xfrm>
          <a:prstGeom prst="round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20" y="37764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37673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Oportunidad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4114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Datos actualizados</a:t>
            </a:r>
            <a:br/>
            <a:r>
              <a:t>cuando se necesitan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760720"/>
            <a:ext cx="4114800" cy="365760"/>
          </a:xfrm>
          <a:prstGeom prst="roundRect">
            <a:avLst/>
          </a:prstGeom>
          <a:solidFill>
            <a:srgbClr val="12233D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5806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Wiki Cap. 4: Calidad y Gobierno de Datos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Ciclo de mejora continua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7A94"/>
                </a:solidFill>
                <a:latin typeface="Calibri"/>
              </a:defRPr>
            </a:pPr>
            <a:r>
              <a:t>Power BI es la herramienta de "Verificar" dentro del ciclo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606040" cy="256032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463040" y="2194560"/>
            <a:ext cx="4572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22219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98DB"/>
                </a:solidFill>
                <a:latin typeface="Calibri"/>
              </a:defRPr>
            </a:pPr>
            <a:r>
              <a:t>Planificar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2606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FA8BF"/>
                </a:solidFill>
                <a:latin typeface="Calibri"/>
              </a:defRPr>
            </a:pPr>
            <a:r>
              <a:rPr sz="1600" dirty="0" err="1">
                <a:solidFill>
                  <a:srgbClr val="5A7A94"/>
                </a:solidFill>
              </a:rPr>
              <a:t>Definir</a:t>
            </a:r>
            <a:r>
              <a:rPr sz="1600" dirty="0">
                <a:solidFill>
                  <a:srgbClr val="5A7A94"/>
                </a:solidFill>
              </a:rPr>
              <a:t> </a:t>
            </a:r>
            <a:r>
              <a:rPr sz="1600" dirty="0" err="1">
                <a:solidFill>
                  <a:srgbClr val="5A7A94"/>
                </a:solidFill>
              </a:rPr>
              <a:t>objetivos</a:t>
            </a:r>
            <a:r>
              <a:rPr sz="1600" dirty="0">
                <a:solidFill>
                  <a:srgbClr val="5A7A94"/>
                </a:solidFill>
              </a:rPr>
              <a:t/>
            </a:r>
            <a:br>
              <a:rPr sz="1600" dirty="0">
                <a:solidFill>
                  <a:srgbClr val="5A7A94"/>
                </a:solidFill>
              </a:rPr>
            </a:br>
            <a:r>
              <a:rPr sz="1600" dirty="0">
                <a:solidFill>
                  <a:srgbClr val="5A7A94"/>
                </a:solidFill>
              </a:rPr>
              <a:t>y </a:t>
            </a:r>
            <a:r>
              <a:rPr sz="1600" dirty="0" err="1">
                <a:solidFill>
                  <a:srgbClr val="5A7A94"/>
                </a:solidFill>
              </a:rPr>
              <a:t>planificar</a:t>
            </a:r>
            <a:r>
              <a:rPr sz="1600" dirty="0">
                <a:solidFill>
                  <a:srgbClr val="5A7A94"/>
                </a:solidFill>
              </a:rPr>
              <a:t> </a:t>
            </a:r>
            <a:r>
              <a:rPr sz="1600" dirty="0" err="1">
                <a:solidFill>
                  <a:srgbClr val="5A7A94"/>
                </a:solidFill>
              </a:rPr>
              <a:t>acciones</a:t>
            </a:r>
            <a:endParaRPr sz="1600" dirty="0">
              <a:solidFill>
                <a:srgbClr val="5A7A9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80360" y="30175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5A7A94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011680"/>
            <a:ext cx="2606040" cy="256032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43400" y="2194560"/>
            <a:ext cx="457200" cy="457200"/>
          </a:xfrm>
          <a:prstGeom prst="round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22219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7889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ADA4"/>
                </a:solidFill>
                <a:latin typeface="Calibri"/>
              </a:defRPr>
            </a:pPr>
            <a:r>
              <a:t>Hacer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246120"/>
            <a:ext cx="2606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FA8BF"/>
                </a:solidFill>
                <a:latin typeface="Calibri"/>
              </a:defRPr>
            </a:pPr>
            <a:r>
              <a:rPr sz="1600" dirty="0" err="1"/>
              <a:t>Ejecutar</a:t>
            </a:r>
            <a:r>
              <a:rPr sz="1600" dirty="0"/>
              <a:t> lo</a:t>
            </a:r>
            <a:br>
              <a:rPr sz="1600" dirty="0"/>
            </a:br>
            <a:r>
              <a:rPr sz="1600" dirty="0" err="1"/>
              <a:t>planificado</a:t>
            </a:r>
            <a:endParaRPr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5760720" y="30175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5A7A9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11680"/>
            <a:ext cx="2606040" cy="2560320"/>
          </a:xfrm>
          <a:prstGeom prst="roundRect">
            <a:avLst/>
          </a:prstGeom>
          <a:solidFill>
            <a:srgbClr val="2A1A0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223760" y="2194560"/>
            <a:ext cx="45720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0" y="22219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7889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7E22"/>
                </a:solidFill>
                <a:latin typeface="Calibri"/>
              </a:defRPr>
            </a:pPr>
            <a:r>
              <a:t>Verificar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246120"/>
            <a:ext cx="2606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FA8BF"/>
                </a:solidFill>
                <a:latin typeface="Calibri"/>
              </a:defRPr>
            </a:pPr>
            <a:r>
              <a:rPr sz="1600" dirty="0" err="1"/>
              <a:t>Medir</a:t>
            </a:r>
            <a:r>
              <a:rPr sz="1600" dirty="0"/>
              <a:t> </a:t>
            </a:r>
            <a:r>
              <a:rPr sz="1600" dirty="0" err="1"/>
              <a:t>resultados</a:t>
            </a:r>
            <a:r>
              <a:rPr sz="1600" dirty="0"/>
              <a:t/>
            </a:r>
            <a:br>
              <a:rPr sz="1600" dirty="0"/>
            </a:br>
            <a:r>
              <a:rPr sz="1600" dirty="0"/>
              <a:t>con </a:t>
            </a:r>
            <a:r>
              <a:rPr sz="1600" dirty="0" err="1"/>
              <a:t>datos</a:t>
            </a:r>
            <a:r>
              <a:rPr sz="1600" dirty="0"/>
              <a:t> </a:t>
            </a:r>
            <a:r>
              <a:rPr sz="1600" dirty="0" err="1"/>
              <a:t>reales</a:t>
            </a:r>
            <a:endParaRPr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6217920" y="40233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Calibri"/>
              </a:defRPr>
            </a:pPr>
            <a:r>
              <a:t>Power 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175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5A7A94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2011680"/>
            <a:ext cx="2606040" cy="256032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104120" y="219456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04120" y="22219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7889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Actuar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246120"/>
            <a:ext cx="2606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FA8BF"/>
                </a:solidFill>
                <a:latin typeface="Calibri"/>
              </a:defRPr>
            </a:pPr>
            <a:r>
              <a:rPr sz="1600" dirty="0" err="1"/>
              <a:t>Ajustar</a:t>
            </a:r>
            <a:r>
              <a:rPr sz="1600" dirty="0"/>
              <a:t> y </a:t>
            </a:r>
            <a:r>
              <a:rPr sz="1600" dirty="0" err="1"/>
              <a:t>mejorar</a:t>
            </a:r>
            <a:r>
              <a:rPr sz="1600" dirty="0"/>
              <a:t/>
            </a:r>
            <a:br>
              <a:rPr sz="1600" dirty="0"/>
            </a:br>
            <a:r>
              <a:rPr sz="1600" dirty="0"/>
              <a:t>el </a:t>
            </a:r>
            <a:r>
              <a:rPr sz="1600" dirty="0" err="1"/>
              <a:t>proceso</a:t>
            </a:r>
            <a:endParaRPr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731520" y="5791393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FA8BF"/>
                </a:solidFill>
                <a:latin typeface="Calibri"/>
              </a:defRPr>
            </a:pPr>
            <a:r>
              <a:rPr dirty="0"/>
              <a:t>ISELIN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trabaja</a:t>
            </a:r>
            <a:r>
              <a:rPr dirty="0"/>
              <a:t> con </a:t>
            </a:r>
            <a:r>
              <a:rPr dirty="0" err="1"/>
              <a:t>mejora</a:t>
            </a:r>
            <a:r>
              <a:rPr dirty="0"/>
              <a:t> continua.</a:t>
            </a:r>
            <a:br>
              <a:rPr dirty="0"/>
            </a:br>
            <a:r>
              <a:rPr dirty="0"/>
              <a:t>Power BI se </a:t>
            </a:r>
            <a:r>
              <a:rPr dirty="0" err="1"/>
              <a:t>suma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la </a:t>
            </a:r>
            <a:r>
              <a:rPr dirty="0" err="1"/>
              <a:t>herramienta</a:t>
            </a:r>
            <a:r>
              <a:rPr dirty="0"/>
              <a:t> que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verificar</a:t>
            </a:r>
            <a:r>
              <a:rPr dirty="0"/>
              <a:t> con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reales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las </a:t>
            </a:r>
            <a:r>
              <a:rPr dirty="0" err="1"/>
              <a:t>acciones</a:t>
            </a:r>
            <a:r>
              <a:rPr dirty="0"/>
              <a:t> </a:t>
            </a:r>
            <a:r>
              <a:rPr dirty="0" err="1"/>
              <a:t>dan</a:t>
            </a:r>
            <a:r>
              <a:rPr dirty="0"/>
              <a:t> </a:t>
            </a:r>
            <a:r>
              <a:rPr dirty="0" err="1"/>
              <a:t>resultado</a:t>
            </a:r>
            <a:r>
              <a:rPr dirty="0"/>
              <a:t>.</a:t>
            </a:r>
          </a:p>
        </p:txBody>
      </p:sp>
      <p:cxnSp>
        <p:nvCxnSpPr>
          <p:cNvPr id="34" name="Conector angular 33"/>
          <p:cNvCxnSpPr>
            <a:stCxn id="26" idx="2"/>
            <a:endCxn id="7" idx="2"/>
          </p:cNvCxnSpPr>
          <p:nvPr/>
        </p:nvCxnSpPr>
        <p:spPr>
          <a:xfrm rot="5400000">
            <a:off x="6080760" y="251460"/>
            <a:ext cx="12700" cy="8641080"/>
          </a:xfrm>
          <a:prstGeom prst="bentConnector3">
            <a:avLst>
              <a:gd name="adj1" fmla="val 6060000"/>
            </a:avLst>
          </a:prstGeom>
          <a:ln>
            <a:solidFill>
              <a:srgbClr val="5A7A9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Del Excel a Power BI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7A94"/>
                </a:solidFill>
                <a:latin typeface="Calibri"/>
              </a:defRPr>
            </a:pPr>
            <a:r>
              <a:t>El proceso de carga en 3 pasos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520440" cy="3474720"/>
          </a:xfrm>
          <a:prstGeom prst="roundRect">
            <a:avLst/>
          </a:prstGeom>
          <a:solidFill>
            <a:srgbClr val="12233D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691640"/>
            <a:ext cx="4572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Extraer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Sacar los datos desde</a:t>
            </a:r>
            <a:br/>
            <a:r>
              <a:t>Excel, Wara u otra fuente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74720"/>
            <a:ext cx="3108960" cy="127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7A94"/>
                </a:solidFill>
                <a:latin typeface="Calibri"/>
              </a:defRPr>
            </a:pPr>
            <a:r>
              <a:rPr sz="1600" dirty="0" err="1"/>
              <a:t>En</a:t>
            </a:r>
            <a:r>
              <a:rPr sz="1600" dirty="0"/>
              <a:t> ISELIN: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31089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BF"/>
                </a:solidFill>
                <a:latin typeface="Calibri"/>
              </a:defRPr>
            </a:pPr>
            <a:r>
              <a:rPr sz="1500" dirty="0"/>
              <a:t>Los </a:t>
            </a:r>
            <a:r>
              <a:rPr sz="1500" dirty="0" err="1"/>
              <a:t>archivos</a:t>
            </a:r>
            <a:r>
              <a:rPr sz="1500" dirty="0"/>
              <a:t> Excel de ISELIN</a:t>
            </a:r>
            <a:br>
              <a:rPr sz="1500" dirty="0"/>
            </a:br>
            <a:r>
              <a:rPr sz="1500" dirty="0"/>
              <a:t>son el </a:t>
            </a:r>
            <a:r>
              <a:rPr sz="1500" dirty="0" err="1"/>
              <a:t>punto</a:t>
            </a:r>
            <a:r>
              <a:rPr sz="1500" dirty="0"/>
              <a:t> de </a:t>
            </a:r>
            <a:r>
              <a:rPr sz="1500" dirty="0" err="1"/>
              <a:t>partida</a:t>
            </a:r>
            <a:endParaRPr sz="1500" dirty="0"/>
          </a:p>
        </p:txBody>
      </p:sp>
      <p:sp>
        <p:nvSpPr>
          <p:cNvPr id="15" name="TextBox 14"/>
          <p:cNvSpPr txBox="1"/>
          <p:nvPr/>
        </p:nvSpPr>
        <p:spPr>
          <a:xfrm>
            <a:off x="4069080" y="2926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554480"/>
            <a:ext cx="3520440" cy="3474720"/>
          </a:xfrm>
          <a:prstGeom prst="roundRect">
            <a:avLst/>
          </a:prstGeom>
          <a:solidFill>
            <a:srgbClr val="112530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663440" y="1691640"/>
            <a:ext cx="457200" cy="457200"/>
          </a:xfrm>
          <a:prstGeom prst="round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17190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ADA4"/>
                </a:solidFill>
                <a:latin typeface="Calibri"/>
              </a:defRPr>
            </a:pPr>
            <a:r>
              <a:t>Transformar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240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Limpiar, corregir formatos,</a:t>
            </a:r>
            <a:br/>
            <a:r>
              <a:t>eliminar datos innecesarios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3474720"/>
            <a:ext cx="3108960" cy="127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3657600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7A94"/>
                </a:solidFill>
                <a:latin typeface="Calibri"/>
              </a:defRPr>
            </a:pPr>
            <a:r>
              <a:rPr sz="1600"/>
              <a:t>En ISELIN: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931920"/>
            <a:ext cx="31089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BF"/>
                </a:solidFill>
                <a:latin typeface="Calibri"/>
              </a:defRPr>
            </a:pPr>
            <a:r>
              <a:rPr sz="1500"/>
              <a:t>Power Query es el "taller mecánico"</a:t>
            </a:r>
            <a:br>
              <a:rPr sz="1500"/>
            </a:br>
            <a:r>
              <a:rPr sz="1500"/>
              <a:t>donde se preparan los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926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AADA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1554480"/>
            <a:ext cx="3520440" cy="3474720"/>
          </a:xfrm>
          <a:prstGeom prst="roundRect">
            <a:avLst/>
          </a:prstGeom>
          <a:solidFill>
            <a:srgbClr val="12251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58200" y="169164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17190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Cargar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240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Meter los datos limpios en</a:t>
            </a:r>
            <a:br/>
            <a:r>
              <a:t>Power BI, listos para usar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3474720"/>
            <a:ext cx="3108960" cy="127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3657600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7A94"/>
                </a:solidFill>
                <a:latin typeface="Calibri"/>
              </a:defRPr>
            </a:pPr>
            <a:r>
              <a:rPr sz="1600"/>
              <a:t>En ISELIN: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931920"/>
            <a:ext cx="31089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BF"/>
                </a:solidFill>
                <a:latin typeface="Calibri"/>
              </a:defRPr>
            </a:pPr>
            <a:r>
              <a:rPr sz="1500"/>
              <a:t>Los datos quedan disponibles</a:t>
            </a:r>
            <a:br>
              <a:rPr sz="1500"/>
            </a:br>
            <a:r>
              <a:rPr sz="1500"/>
              <a:t>para crear visualizaciones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394960"/>
            <a:ext cx="4114800" cy="365760"/>
          </a:xfrm>
          <a:prstGeom prst="roundRect">
            <a:avLst/>
          </a:prstGeom>
          <a:solidFill>
            <a:srgbClr val="12233D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440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Wiki Cap. 3: La Fábrica de Datos — ETL y ELT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Tipos de tablas en Power BI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154665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7A94"/>
                </a:solidFill>
                <a:latin typeface="Calibri"/>
              </a:defRPr>
            </a:pPr>
            <a:r>
              <a:rPr sz="2000" dirty="0"/>
              <a:t>Los </a:t>
            </a:r>
            <a:r>
              <a:rPr sz="2000" dirty="0" err="1"/>
              <a:t>datos</a:t>
            </a:r>
            <a:r>
              <a:rPr sz="2000" dirty="0"/>
              <a:t> se </a:t>
            </a:r>
            <a:r>
              <a:rPr sz="2000" dirty="0" err="1"/>
              <a:t>organizan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dos </a:t>
            </a:r>
            <a:r>
              <a:rPr sz="2000" dirty="0" err="1"/>
              <a:t>tipos</a:t>
            </a:r>
            <a:r>
              <a:rPr sz="2000" dirty="0"/>
              <a:t> de </a:t>
            </a:r>
            <a:r>
              <a:rPr sz="2000" dirty="0" err="1"/>
              <a:t>tablas</a:t>
            </a:r>
            <a:r>
              <a:rPr sz="2000" dirty="0"/>
              <a:t> que se </a:t>
            </a:r>
            <a:r>
              <a:rPr sz="2000" dirty="0" err="1"/>
              <a:t>conectan</a:t>
            </a:r>
            <a:r>
              <a:rPr sz="2000" dirty="0"/>
              <a:t> entre </a:t>
            </a:r>
            <a:r>
              <a:rPr sz="2000" dirty="0" err="1"/>
              <a:t>sí</a:t>
            </a:r>
            <a:endParaRPr sz="2000" dirty="0"/>
          </a:p>
        </p:txBody>
      </p:sp>
      <p:sp>
        <p:nvSpPr>
          <p:cNvPr id="7" name="Rounded Rectangle 6"/>
          <p:cNvSpPr/>
          <p:nvPr/>
        </p:nvSpPr>
        <p:spPr>
          <a:xfrm>
            <a:off x="320040" y="1903462"/>
            <a:ext cx="5029200" cy="4349931"/>
          </a:xfrm>
          <a:prstGeom prst="roundRect">
            <a:avLst/>
          </a:prstGeom>
          <a:solidFill>
            <a:srgbClr val="12233D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013190"/>
            <a:ext cx="41148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" y="2324273"/>
            <a:ext cx="4709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ES" sz="2000" dirty="0" smtClean="0"/>
              <a:t>Tablas de hechos</a:t>
            </a:r>
            <a:endParaRPr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480060" y="3021647"/>
            <a:ext cx="43060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FA8BF"/>
                </a:solidFill>
                <a:latin typeface="Calibri"/>
              </a:defRPr>
            </a:pPr>
            <a:r>
              <a:rPr lang="es-ES" sz="1600" dirty="0"/>
              <a:t>Es el registro de cada evento ocurrido en la operación, como una venta de pasaje o un viaje realizado. Contiene los datos numéricos y métricas que necesitamos medir para conocer el rendimiento real de la empresa</a:t>
            </a:r>
            <a:r>
              <a:rPr lang="es-ES" sz="1600" dirty="0" smtClean="0"/>
              <a:t>.</a:t>
            </a:r>
            <a:r>
              <a:rPr sz="1600" dirty="0"/>
              <a:t/>
            </a:r>
            <a:br>
              <a:rPr sz="1600" dirty="0"/>
            </a:br>
            <a:r>
              <a:rPr sz="1600" dirty="0"/>
              <a:t/>
            </a:r>
            <a:br>
              <a:rPr sz="1600" dirty="0"/>
            </a:br>
            <a:r>
              <a:rPr sz="1600" dirty="0" err="1"/>
              <a:t>Ejemplos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ISELIN:</a:t>
            </a:r>
            <a:br>
              <a:rPr sz="1600" dirty="0"/>
            </a:br>
            <a:r>
              <a:rPr sz="1600" dirty="0"/>
              <a:t>  · 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viaje</a:t>
            </a:r>
            <a:r>
              <a:rPr sz="1600" dirty="0"/>
              <a:t> </a:t>
            </a:r>
            <a:r>
              <a:rPr sz="1600" dirty="0" err="1"/>
              <a:t>realizado</a:t>
            </a:r>
            <a:r>
              <a:rPr sz="1600" dirty="0"/>
              <a:t/>
            </a:r>
            <a:br>
              <a:rPr sz="1600" dirty="0"/>
            </a:br>
            <a:r>
              <a:rPr sz="1600" dirty="0"/>
              <a:t>  · 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boleto</a:t>
            </a:r>
            <a:r>
              <a:rPr sz="1600" dirty="0"/>
              <a:t> </a:t>
            </a:r>
            <a:r>
              <a:rPr sz="1600" dirty="0" err="1"/>
              <a:t>vendido</a:t>
            </a:r>
            <a:r>
              <a:rPr sz="1600" dirty="0"/>
              <a:t/>
            </a:r>
            <a:br>
              <a:rPr sz="1600" dirty="0"/>
            </a:br>
            <a:r>
              <a:rPr sz="1600" dirty="0"/>
              <a:t>  · 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siniestro</a:t>
            </a:r>
            <a:r>
              <a:rPr sz="1600" dirty="0"/>
              <a:t> </a:t>
            </a:r>
            <a:r>
              <a:rPr sz="1600" dirty="0" err="1"/>
              <a:t>registrado</a:t>
            </a:r>
            <a:r>
              <a:rPr sz="1600" dirty="0"/>
              <a:t/>
            </a:r>
            <a:br>
              <a:rPr sz="1600" dirty="0"/>
            </a:br>
            <a:r>
              <a:rPr sz="1600" dirty="0"/>
              <a:t>  · 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gasto</a:t>
            </a:r>
            <a:r>
              <a:rPr sz="1600" dirty="0"/>
              <a:t> </a:t>
            </a:r>
            <a:r>
              <a:rPr sz="1600" dirty="0" err="1" smtClean="0"/>
              <a:t>operativo</a:t>
            </a:r>
            <a:endParaRPr lang="es-ES" sz="1600" dirty="0" smtClean="0"/>
          </a:p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endParaRPr lang="es-ES" sz="1600" dirty="0"/>
          </a:p>
        </p:txBody>
      </p:sp>
      <p:sp>
        <p:nvSpPr>
          <p:cNvPr id="11" name="Rounded Rectangle 10"/>
          <p:cNvSpPr/>
          <p:nvPr/>
        </p:nvSpPr>
        <p:spPr>
          <a:xfrm>
            <a:off x="6812280" y="1903462"/>
            <a:ext cx="5029200" cy="4349931"/>
          </a:xfrm>
          <a:prstGeom prst="roundRect">
            <a:avLst/>
          </a:prstGeom>
          <a:solidFill>
            <a:srgbClr val="112530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49440" y="2013190"/>
            <a:ext cx="41148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76872" y="2381170"/>
            <a:ext cx="4709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ES" sz="2000" dirty="0" smtClean="0"/>
              <a:t>Tablas de dimensiones</a:t>
            </a:r>
            <a:endParaRPr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7462997" y="3021250"/>
            <a:ext cx="422303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FA8BF"/>
                </a:solidFill>
                <a:latin typeface="Calibri"/>
              </a:defRPr>
            </a:pPr>
            <a:r>
              <a:rPr lang="es-ES" sz="1600" dirty="0"/>
              <a:t>Es la información que le da contexto y nombre a los números. Contiene las descripciones de las unidades, los choferes, las rutas y los horarios que nos permiten filtrar y organizar los resultados para tomar mejores decisiones.</a:t>
            </a:r>
            <a:r>
              <a:rPr sz="1600" dirty="0" smtClean="0"/>
              <a:t/>
            </a:r>
            <a:br>
              <a:rPr sz="1600" dirty="0" smtClean="0"/>
            </a:br>
            <a:r>
              <a:rPr sz="1600" dirty="0" smtClean="0"/>
              <a:t/>
            </a:r>
            <a:br>
              <a:rPr sz="1600" dirty="0" smtClean="0"/>
            </a:br>
            <a:r>
              <a:rPr sz="1600" dirty="0" err="1" smtClean="0"/>
              <a:t>Ejemplos</a:t>
            </a:r>
            <a:r>
              <a:rPr sz="1600" dirty="0" smtClean="0"/>
              <a:t> </a:t>
            </a:r>
            <a:r>
              <a:rPr sz="1600" dirty="0" err="1"/>
              <a:t>en</a:t>
            </a:r>
            <a:r>
              <a:rPr sz="1600" dirty="0"/>
              <a:t> ISELIN:</a:t>
            </a:r>
            <a:br>
              <a:rPr sz="1600" dirty="0"/>
            </a:br>
            <a:r>
              <a:rPr sz="1600" dirty="0"/>
              <a:t>  ·  </a:t>
            </a:r>
            <a:r>
              <a:rPr sz="1600" dirty="0" err="1"/>
              <a:t>Lista</a:t>
            </a:r>
            <a:r>
              <a:rPr sz="1600" dirty="0"/>
              <a:t> de </a:t>
            </a:r>
            <a:r>
              <a:rPr sz="1600" dirty="0" err="1"/>
              <a:t>choferes</a:t>
            </a:r>
            <a:r>
              <a:rPr sz="1600" dirty="0"/>
              <a:t/>
            </a:r>
            <a:br>
              <a:rPr sz="1600" dirty="0"/>
            </a:br>
            <a:r>
              <a:rPr sz="1600" dirty="0"/>
              <a:t>  ·  </a:t>
            </a:r>
            <a:r>
              <a:rPr sz="1600" dirty="0" err="1"/>
              <a:t>Lista</a:t>
            </a:r>
            <a:r>
              <a:rPr sz="1600" dirty="0"/>
              <a:t> de </a:t>
            </a:r>
            <a:r>
              <a:rPr sz="1600" dirty="0" err="1"/>
              <a:t>rutas</a:t>
            </a:r>
            <a:r>
              <a:rPr sz="1600" dirty="0"/>
              <a:t/>
            </a:r>
            <a:br>
              <a:rPr sz="1600" dirty="0"/>
            </a:br>
            <a:r>
              <a:rPr sz="1600" dirty="0"/>
              <a:t>  ·  </a:t>
            </a:r>
            <a:r>
              <a:rPr sz="1600" dirty="0" err="1"/>
              <a:t>Lista</a:t>
            </a:r>
            <a:r>
              <a:rPr sz="1600" dirty="0"/>
              <a:t> de </a:t>
            </a:r>
            <a:r>
              <a:rPr sz="1600" dirty="0" err="1"/>
              <a:t>colectivos</a:t>
            </a:r>
            <a:r>
              <a:rPr sz="1600" dirty="0"/>
              <a:t/>
            </a:r>
            <a:br>
              <a:rPr sz="1600" dirty="0"/>
            </a:br>
            <a:r>
              <a:rPr sz="1600" dirty="0"/>
              <a:t>  ·  </a:t>
            </a:r>
            <a:r>
              <a:rPr sz="1600" dirty="0" err="1"/>
              <a:t>Calendario</a:t>
            </a:r>
            <a:r>
              <a:rPr sz="1600" dirty="0"/>
              <a:t> de </a:t>
            </a:r>
            <a:r>
              <a:rPr sz="1600" dirty="0" err="1"/>
              <a:t>fechas</a:t>
            </a:r>
            <a:endParaRPr sz="1600" dirty="0"/>
          </a:p>
        </p:txBody>
      </p:sp>
      <p:sp>
        <p:nvSpPr>
          <p:cNvPr id="15" name="Rounded Rectangle 14"/>
          <p:cNvSpPr/>
          <p:nvPr/>
        </p:nvSpPr>
        <p:spPr>
          <a:xfrm>
            <a:off x="5029200" y="4016372"/>
            <a:ext cx="2103120" cy="674617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4067690"/>
            <a:ext cx="2103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7A94"/>
                </a:solidFill>
                <a:latin typeface="Calibri"/>
              </a:defRPr>
            </a:pPr>
            <a:r>
              <a:rPr sz="1400" dirty="0">
                <a:solidFill>
                  <a:srgbClr val="8FA8BF"/>
                </a:solidFill>
                <a:latin typeface="Calibri"/>
              </a:rPr>
              <a:t>Se </a:t>
            </a:r>
            <a:r>
              <a:rPr sz="1400" dirty="0" err="1">
                <a:solidFill>
                  <a:srgbClr val="8FA8BF"/>
                </a:solidFill>
                <a:latin typeface="Calibri"/>
              </a:rPr>
              <a:t>conectan</a:t>
            </a:r>
            <a:r>
              <a:rPr sz="1400" dirty="0">
                <a:solidFill>
                  <a:srgbClr val="8FA8BF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8FA8BF"/>
                </a:solidFill>
                <a:latin typeface="Calibri"/>
              </a:rPr>
              <a:t>por</a:t>
            </a:r>
            <a:r>
              <a:rPr lang="es-ES" sz="1400" dirty="0">
                <a:solidFill>
                  <a:srgbClr val="8FA8BF"/>
                </a:solidFill>
                <a:latin typeface="Calibri"/>
              </a:rPr>
              <a:t> un</a:t>
            </a:r>
            <a:r>
              <a:rPr sz="1400" dirty="0">
                <a:solidFill>
                  <a:srgbClr val="8FA8BF"/>
                </a:solidFill>
                <a:latin typeface="Calibri"/>
              </a:rPr>
              <a:t/>
            </a:r>
            <a:br>
              <a:rPr sz="1400" dirty="0">
                <a:solidFill>
                  <a:srgbClr val="8FA8BF"/>
                </a:solidFill>
                <a:latin typeface="Calibri"/>
              </a:rPr>
            </a:br>
            <a:r>
              <a:rPr sz="1400" dirty="0" err="1">
                <a:solidFill>
                  <a:srgbClr val="8FA8BF"/>
                </a:solidFill>
                <a:latin typeface="Calibri"/>
              </a:rPr>
              <a:t>campos</a:t>
            </a:r>
            <a:r>
              <a:rPr sz="1400" dirty="0">
                <a:solidFill>
                  <a:srgbClr val="8FA8BF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8FA8BF"/>
                </a:solidFill>
                <a:latin typeface="Calibri"/>
              </a:rPr>
              <a:t>en</a:t>
            </a:r>
            <a:r>
              <a:rPr sz="1400" dirty="0">
                <a:solidFill>
                  <a:srgbClr val="8FA8BF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8FA8BF"/>
                </a:solidFill>
                <a:latin typeface="Calibri"/>
              </a:rPr>
              <a:t>común</a:t>
            </a:r>
            <a:r>
              <a:rPr dirty="0"/>
              <a:t/>
            </a:r>
            <a:br>
              <a:rPr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¿Cómo funcionan los filtros?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7A94"/>
                </a:solidFill>
                <a:latin typeface="Calibri"/>
              </a:defRPr>
            </a:pPr>
            <a:r>
              <a:t>Al aplicar un filtro, Power BI recalcula todo automáticamente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29200" cy="347472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755648"/>
            <a:ext cx="411480" cy="38100"/>
          </a:xfrm>
          <a:prstGeom prst="rect">
            <a:avLst/>
          </a:prstGeom>
          <a:solidFill>
            <a:srgbClr val="5A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7452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Sin filtro — Toda la empresa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94560"/>
            <a:ext cx="4709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FA8BF"/>
                </a:solidFill>
                <a:latin typeface="Calibri"/>
              </a:defRPr>
            </a:pPr>
            <a:r>
              <a:t>Total viajes:            12.500</a:t>
            </a:r>
            <a:br/>
            <a:r>
              <a:t>Km recorridos:       890.000</a:t>
            </a:r>
            <a:br/>
            <a:r>
              <a:t>Siniestros:                    45</a:t>
            </a:r>
            <a:br/>
            <a:r>
              <a:t>Consumo gasoil:    320.000 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029200" cy="3474720"/>
          </a:xfrm>
          <a:prstGeom prst="roundRect">
            <a:avLst/>
          </a:prstGeom>
          <a:solidFill>
            <a:srgbClr val="112530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37960" y="1755648"/>
            <a:ext cx="41148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187452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Filtro aplicado: Ruta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194560"/>
            <a:ext cx="4709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FA8BF"/>
                </a:solidFill>
                <a:latin typeface="Calibri"/>
              </a:defRPr>
            </a:pPr>
            <a:r>
              <a:t>Total viajes:              1.800</a:t>
            </a:r>
            <a:br/>
            <a:r>
              <a:t>Km recorridos:       125.000</a:t>
            </a:r>
            <a:br/>
            <a:r>
              <a:t>Siniestros:                      6</a:t>
            </a:r>
            <a:br/>
            <a:r>
              <a:t>Consumo gasoil:      47.000 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98DB"/>
                </a:solidFill>
                <a:latin typeface="Calibri"/>
              </a:defRPr>
            </a:pPr>
            <a:r>
              <a:t>filtrar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FA8BF"/>
                </a:solidFill>
                <a:latin typeface="Calibri"/>
              </a:defRPr>
            </a:pPr>
            <a:r>
              <a:t>No hace falta cambiar fórmulas ni tocar los datos. PBI hace todo el trabajo.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Estadísticas básicas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7A94"/>
                </a:solidFill>
                <a:latin typeface="Calibri"/>
              </a:defRPr>
            </a:pPr>
            <a:r>
              <a:t>Tres números clave para entender los datos de ISELIN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520440" cy="3840480"/>
          </a:xfrm>
          <a:prstGeom prst="roundRect">
            <a:avLst/>
          </a:prstGeom>
          <a:solidFill>
            <a:srgbClr val="12233D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4572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Promedio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El valor "medio" de un</a:t>
            </a:r>
            <a:br/>
            <a:r>
              <a:t>conjunto de datos.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840480"/>
            <a:ext cx="3108960" cy="127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7A94"/>
                </a:solidFill>
                <a:latin typeface="Calibri"/>
              </a:defRPr>
            </a:pPr>
            <a:r>
              <a:t>En ISELIN: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Km promedio recorridos</a:t>
            </a:r>
            <a:br/>
            <a:r>
              <a:t>por colectivo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554480"/>
            <a:ext cx="3520440" cy="3840480"/>
          </a:xfrm>
          <a:prstGeom prst="roundRect">
            <a:avLst/>
          </a:prstGeom>
          <a:solidFill>
            <a:srgbClr val="112530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63440" y="1691640"/>
            <a:ext cx="45720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1828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ADA4"/>
                </a:solidFill>
                <a:latin typeface="Calibri"/>
              </a:defRPr>
            </a:pPr>
            <a:r>
              <a:t>Mediana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El valor del medio cuando</a:t>
            </a:r>
            <a:br/>
            <a:r>
              <a:t>ordenamos los datos.</a:t>
            </a:r>
            <a:br/>
            <a:r>
              <a:t>No se distorsiona por extremos.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3840480"/>
            <a:ext cx="3108960" cy="127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9160" y="3977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7A94"/>
                </a:solidFill>
                <a:latin typeface="Calibri"/>
              </a:defRPr>
            </a:pPr>
            <a:r>
              <a:t>En ISELIN: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2519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Tiempo mediano de</a:t>
            </a:r>
            <a:br/>
            <a:r>
              <a:t>demora en una ruta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554480"/>
            <a:ext cx="3520440" cy="3840480"/>
          </a:xfrm>
          <a:prstGeom prst="roundRect">
            <a:avLst/>
          </a:prstGeom>
          <a:solidFill>
            <a:srgbClr val="2A1A0F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58200" y="1691640"/>
            <a:ext cx="4572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1828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Dispersión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Cuánto varían los datos.</a:t>
            </a:r>
            <a:br/>
            <a:r>
              <a:t>Mucha dispersión = datos</a:t>
            </a:r>
            <a:br/>
            <a:r>
              <a:t>muy diferentes entre sí.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3840480"/>
            <a:ext cx="3108960" cy="127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0" y="3977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7A94"/>
                </a:solidFill>
                <a:latin typeface="Calibri"/>
              </a:defRPr>
            </a:pPr>
            <a:r>
              <a:t>En ISELIN: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2519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Variabilidad del consumo</a:t>
            </a:r>
            <a:br/>
            <a:r>
              <a:t>de gasoil entre colectivos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Power BI: demo en vivo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7A94"/>
                </a:solidFill>
                <a:latin typeface="Calibri"/>
              </a:defRPr>
            </a:pPr>
            <a:r>
              <a:t>35 minutos — Conocer la herramienta y cargar datos reales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148840" cy="146304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8" y="1572768"/>
            <a:ext cx="4572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60020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00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Informe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0116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BF"/>
                </a:solidFill>
                <a:latin typeface="Calibri"/>
              </a:defRPr>
            </a:pPr>
            <a:r>
              <a:t>Donde se crean</a:t>
            </a:r>
            <a:br/>
            <a:r>
              <a:t>las visualizaciones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1463040"/>
            <a:ext cx="2148840" cy="146304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18688" y="1572768"/>
            <a:ext cx="457200" cy="457200"/>
          </a:xfrm>
          <a:prstGeom prst="round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18688" y="160020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600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ADA4"/>
                </a:solidFill>
                <a:latin typeface="Calibri"/>
              </a:defRPr>
            </a:pPr>
            <a:r>
              <a:t>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0116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BF"/>
                </a:solidFill>
                <a:latin typeface="Calibri"/>
              </a:defRPr>
            </a:pPr>
            <a:r>
              <a:t>Donde se ven</a:t>
            </a:r>
            <a:br/>
            <a:r>
              <a:t>las tablas cargadas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1463040"/>
            <a:ext cx="2148840" cy="146304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596128" y="1572768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96128" y="160020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600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20116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BF"/>
                </a:solidFill>
                <a:latin typeface="Calibri"/>
              </a:defRPr>
            </a:pPr>
            <a:r>
              <a:t>Donde se conectan</a:t>
            </a:r>
            <a:br/>
            <a:r>
              <a:t>las tablas entre sí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1463040"/>
            <a:ext cx="3840480" cy="411480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09560" y="1572768"/>
            <a:ext cx="41148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36992" y="169164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Pasos de la práctica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2011680"/>
            <a:ext cx="3520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1.  Cargar un Excel real de ISELIN</a:t>
            </a:r>
            <a:br/>
            <a:r>
              <a:t/>
            </a:r>
            <a:br/>
            <a:r>
              <a:t>2.  Vista previa en Power Query</a:t>
            </a:r>
            <a:br/>
            <a:r>
              <a:t/>
            </a:r>
            <a:br/>
            <a:r>
              <a:t>3.  Ajustar tipos de datos</a:t>
            </a:r>
            <a:br/>
            <a:r>
              <a:t/>
            </a:r>
            <a:br/>
            <a:r>
              <a:t>4.  Cerrar y aplicar</a:t>
            </a:r>
            <a:br/>
            <a:r>
              <a:t/>
            </a:r>
            <a:br/>
            <a:r>
              <a:t>5.  Crear el primer gráfico de barras</a:t>
            </a:r>
            <a:br/>
            <a:r>
              <a:t>     con un indicador real de ISELIN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200400"/>
            <a:ext cx="6583680" cy="3017520"/>
          </a:xfrm>
          <a:prstGeom prst="roundRect">
            <a:avLst/>
          </a:prstGeom>
          <a:solidFill>
            <a:srgbClr val="142035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A94"/>
                </a:solidFill>
                <a:latin typeface="Calibri"/>
              </a:defRPr>
            </a:pPr>
            <a:r>
              <a:t>[ Espacio para captura de pantalla de PBI 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Mapa de ruta: los 4 encuentros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3291840"/>
            <a:ext cx="9418320" cy="381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920240" y="3154680"/>
            <a:ext cx="320040" cy="3200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2468880" cy="1463040"/>
          </a:xfrm>
          <a:prstGeom prst="roundRect">
            <a:avLst/>
          </a:prstGeom>
          <a:solidFill>
            <a:srgbClr val="12233D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98DB"/>
                </a:solidFill>
                <a:latin typeface="Calibri"/>
              </a:defRPr>
            </a:pPr>
            <a:r>
              <a:t>E1 — Hoy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7A94"/>
                </a:solidFill>
                <a:latin typeface="Calibri"/>
              </a:defRPr>
            </a:pPr>
            <a:r>
              <a:t>16/04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FA8BF"/>
                </a:solidFill>
                <a:latin typeface="Calibri"/>
              </a:defRPr>
            </a:pPr>
            <a:r>
              <a:t>Fundamentos, Calidad</a:t>
            </a:r>
            <a:br/>
            <a:r>
              <a:t>y Primer Contacto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3154680"/>
            <a:ext cx="320040" cy="320040"/>
          </a:xfrm>
          <a:prstGeom prst="roundRect">
            <a:avLst/>
          </a:prstGeom>
          <a:solidFill>
            <a:srgbClr val="5A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03320" y="1371600"/>
            <a:ext cx="2468880" cy="146304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1444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ADA4"/>
                </a:solidFill>
                <a:latin typeface="Calibri"/>
              </a:defRPr>
            </a:pPr>
            <a:r>
              <a:t>E2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7A94"/>
                </a:solidFill>
                <a:latin typeface="Calibri"/>
              </a:defRPr>
            </a:pPr>
            <a:r>
              <a:t>21/04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8404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FA8BF"/>
                </a:solidFill>
                <a:latin typeface="Calibri"/>
              </a:defRPr>
            </a:pPr>
            <a:r>
              <a:t>Modelo de Datos,</a:t>
            </a:r>
            <a:br/>
            <a:r>
              <a:t>Power Query y</a:t>
            </a:r>
            <a:br/>
            <a:r>
              <a:t>Visualizaciones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0" y="3154680"/>
            <a:ext cx="320040" cy="320040"/>
          </a:xfrm>
          <a:prstGeom prst="roundRect">
            <a:avLst/>
          </a:prstGeom>
          <a:solidFill>
            <a:srgbClr val="5A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92240" y="1371600"/>
            <a:ext cx="2468880" cy="146304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444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98DB"/>
                </a:solidFill>
                <a:latin typeface="Calibri"/>
              </a:defRPr>
            </a:pPr>
            <a:r>
              <a:t>E3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7A94"/>
                </a:solidFill>
                <a:latin typeface="Calibri"/>
              </a:defRPr>
            </a:pPr>
            <a:r>
              <a:t>23/04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404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FA8BF"/>
                </a:solidFill>
                <a:latin typeface="Calibri"/>
              </a:defRPr>
            </a:pPr>
            <a:r>
              <a:t>Fórmulas DAX,</a:t>
            </a:r>
            <a:br/>
            <a:r>
              <a:t>Dashboards y</a:t>
            </a:r>
            <a:br/>
            <a:r>
              <a:t>Storytelling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6999" y="3154680"/>
            <a:ext cx="320040" cy="320040"/>
          </a:xfrm>
          <a:prstGeom prst="roundRect">
            <a:avLst/>
          </a:prstGeom>
          <a:solidFill>
            <a:srgbClr val="5A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281159" y="1371600"/>
            <a:ext cx="2468880" cy="146304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59" y="1444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ADA4"/>
                </a:solidFill>
                <a:latin typeface="Calibri"/>
              </a:defRPr>
            </a:pPr>
            <a:r>
              <a:t>E4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1737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7A94"/>
                </a:solidFill>
                <a:latin typeface="Calibri"/>
              </a:defRPr>
            </a:pPr>
            <a:r>
              <a:t>30/04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59" y="38404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FA8BF"/>
                </a:solidFill>
                <a:latin typeface="Calibri"/>
              </a:defRPr>
            </a:pPr>
            <a:r>
              <a:t>Interpretación,</a:t>
            </a:r>
            <a:br/>
            <a:r>
              <a:t>Publicación y</a:t>
            </a:r>
            <a:br/>
            <a:r>
              <a:t>Actualización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94"/>
                </a:solidFill>
                <a:latin typeface="Calibri"/>
              </a:defRPr>
            </a:pPr>
            <a:r>
              <a:t>5 días entre E1 y E2  ·  2 días entre E2 y E3  ·  7 días entre E3 y E4  —  cada intervalo es oportunidad de práctica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Tarea para el Encuentro 2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22960"/>
            <a:ext cx="6400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7A94"/>
                </a:solidFill>
                <a:latin typeface="Calibri"/>
              </a:defRPr>
            </a:pPr>
            <a:r>
              <a:t>Para practicar antes del martes 21/04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6858000" cy="292608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664208"/>
            <a:ext cx="41148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6537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Abrir Power BI Desktop y cargar un Excel de tu área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03120"/>
            <a:ext cx="6537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FA8BF"/>
                </a:solidFill>
                <a:latin typeface="Calibri"/>
              </a:defRPr>
            </a:pPr>
            <a:r>
              <a:t>1.  Abrir Power BI Desktop</a:t>
            </a:r>
            <a:br/>
            <a:r>
              <a:t/>
            </a:r>
            <a:br/>
            <a:r>
              <a:t>2.  Ir a Inicio → Obtener datos → Excel</a:t>
            </a:r>
            <a:br/>
            <a:r>
              <a:t/>
            </a:r>
            <a:br/>
            <a:r>
              <a:t>3.  Seleccionar un archivo Excel de tu área</a:t>
            </a:r>
            <a:br/>
            <a:r>
              <a:t/>
            </a:r>
            <a:br/>
            <a:r>
              <a:t>4.  Revisar la vista previa y hacer clic en "Cargar"</a:t>
            </a:r>
            <a:br/>
            <a:r>
              <a:t/>
            </a:r>
            <a:br/>
            <a:r>
              <a:t>5.  Explorar los datos en la vista de Datos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54480"/>
            <a:ext cx="3474720" cy="292608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66760" y="1664208"/>
            <a:ext cx="411480" cy="38100"/>
          </a:xfrm>
          <a:prstGeom prst="rect">
            <a:avLst/>
          </a:prstGeom>
          <a:solidFill>
            <a:srgbClr val="5A7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94192" y="17830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Si tenés dudas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10312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BF"/>
                </a:solidFill>
                <a:latin typeface="Calibri"/>
              </a:defRPr>
            </a:pPr>
            <a:r>
              <a:t>No te preocupes si algo</a:t>
            </a:r>
            <a:br/>
            <a:r>
              <a:t>no funciona.</a:t>
            </a:r>
            <a:br/>
            <a:r>
              <a:t/>
            </a:r>
            <a:br/>
            <a:r>
              <a:t>Arrancamos el Encuentro 2</a:t>
            </a:r>
            <a:br/>
            <a:r>
              <a:t>resolviendo dudas y</a:t>
            </a:r>
            <a:br/>
            <a:r>
              <a:t>errores comunes.</a:t>
            </a:r>
            <a:br/>
            <a:r>
              <a:t/>
            </a:r>
            <a:br/>
            <a:r>
              <a:t>Lo importante es intentarlo.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Entregables que van a recibir: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4572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330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3218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Archivo .pbix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3400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4"/>
                </a:solidFill>
                <a:latin typeface="Calibri"/>
              </a:defRPr>
            </a:pPr>
            <a:r>
              <a:t>Con la primera tabla cargada y una visualización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457200" cy="457200"/>
          </a:xfrm>
          <a:prstGeom prst="round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7881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7790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Guía de conceptos fundamentales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7972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4"/>
                </a:solidFill>
                <a:latin typeface="Calibri"/>
              </a:defRPr>
            </a:pPr>
            <a:r>
              <a:t>ETL, tablas, filtros, estadísticas, calidad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621792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2453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62362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Guía de instalación de PBI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62544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7A94"/>
                </a:solidFill>
                <a:latin typeface="Calibri"/>
              </a:defRPr>
            </a:pPr>
            <a:r>
              <a:t>Para que puedan practicar por su cuenta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8FA8BF"/>
                </a:solidFill>
                <a:latin typeface="Calibri"/>
              </a:rPr>
              <a:t>data </a:t>
            </a:r>
            <a:r>
              <a:rPr sz="2000" b="1" dirty="0">
                <a:solidFill>
                  <a:srgbClr val="4AADA4"/>
                </a:solidFill>
                <a:latin typeface="Calibri"/>
              </a:rPr>
              <a:t>oilers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743200"/>
            <a:ext cx="91440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017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¡Gracias!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0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FA8BF"/>
                </a:solidFill>
                <a:latin typeface="Calibri"/>
              </a:defRPr>
            </a:pPr>
            <a:r>
              <a:rPr dirty="0"/>
              <a:t>Nos </a:t>
            </a:r>
            <a:r>
              <a:rPr dirty="0" err="1"/>
              <a:t>vemos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Encuentro</a:t>
            </a:r>
            <a:r>
              <a:rPr dirty="0"/>
              <a:t> 2 — </a:t>
            </a:r>
            <a:r>
              <a:rPr dirty="0" err="1"/>
              <a:t>Martes</a:t>
            </a:r>
            <a:r>
              <a:rPr dirty="0"/>
              <a:t> 21 de </a:t>
            </a:r>
            <a:r>
              <a:rPr dirty="0" err="1" smtClean="0"/>
              <a:t>abril</a:t>
            </a:r>
            <a:r>
              <a:rPr lang="es-ES" dirty="0" smtClean="0"/>
              <a:t> - 14:00hs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ADA4"/>
                </a:solidFill>
                <a:latin typeface="Calibri"/>
              </a:defRPr>
            </a:pP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, Power Query y </a:t>
            </a:r>
            <a:r>
              <a:rPr dirty="0" err="1"/>
              <a:t>Primeras</a:t>
            </a:r>
            <a:r>
              <a:rPr dirty="0"/>
              <a:t> </a:t>
            </a:r>
            <a:r>
              <a:rPr dirty="0" err="1"/>
              <a:t>Visualizaciones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0292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94"/>
                </a:solidFill>
                <a:latin typeface="Calibri"/>
              </a:defRPr>
            </a:pPr>
            <a:r>
              <a:rPr dirty="0"/>
              <a:t>¿</a:t>
            </a:r>
            <a:r>
              <a:rPr dirty="0" err="1"/>
              <a:t>Preguntas</a:t>
            </a:r>
            <a:r>
              <a:rPr dirty="0"/>
              <a:t>? </a:t>
            </a:r>
            <a:r>
              <a:rPr dirty="0" err="1"/>
              <a:t>Escribinos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canal de Teams/WhatsApp del </a:t>
            </a:r>
            <a:r>
              <a:rPr dirty="0" err="1"/>
              <a:t>programa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905</Words>
  <Application>Microsoft Office PowerPoint</Application>
  <PresentationFormat>Panorámica</PresentationFormat>
  <Paragraphs>219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Usuario</cp:lastModifiedBy>
  <cp:revision>15</cp:revision>
  <dcterms:created xsi:type="dcterms:W3CDTF">2013-01-27T09:14:16Z</dcterms:created>
  <dcterms:modified xsi:type="dcterms:W3CDTF">2026-04-15T22:57:19Z</dcterms:modified>
  <cp:category/>
</cp:coreProperties>
</file>