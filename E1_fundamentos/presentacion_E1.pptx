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494A7"/>
                </a:solidFill>
                <a:latin typeface="Calibri"/>
              </a:rPr>
              <a:t>data </a:t>
            </a:r>
            <a:r>
              <a:rPr sz="2200" b="1">
                <a:solidFill>
                  <a:srgbClr val="4AADA4"/>
                </a:solidFill>
                <a:latin typeface="Calibri"/>
              </a:rPr>
              <a:t>oilers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926080"/>
            <a:ext cx="10972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154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Capacitación en Análisis de</a:t>
            </a:r>
            <a:br/>
            <a:r>
              <a:t>Datos con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FA8BF"/>
                </a:solidFill>
                <a:latin typeface="Calibri"/>
              </a:defRPr>
            </a:pPr>
            <a:r>
              <a:t>Encuentro 1: Fundamentos, Calidad y Primer Contacto con PBI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94"/>
                </a:solidFill>
                <a:latin typeface="Calibri"/>
              </a:defRPr>
            </a:pPr>
            <a:r>
              <a:t>ISELIN  ·  Jueves 16 de abril de 2026  ·  Presencial  ·  2 horas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371600"/>
            <a:ext cx="2286000" cy="4114800"/>
          </a:xfrm>
          <a:prstGeom prst="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27432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1E3050"/>
                </a:solidFill>
                <a:latin typeface="Calibri"/>
              </a:defRPr>
            </a:pPr>
            <a:r>
              <a:t>PBI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Agenda del día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73152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3500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447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Apertura y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19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94"/>
                </a:solidFill>
                <a:latin typeface="Calibri"/>
              </a:defRPr>
            </a:pPr>
            <a:r>
              <a:t>10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76272"/>
            <a:ext cx="63500" cy="59436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94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ADA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21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Análisis de datos y calidad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237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94"/>
                </a:solidFill>
                <a:latin typeface="Calibri"/>
              </a:defRPr>
            </a:pPr>
            <a:r>
              <a:t>25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80944"/>
            <a:ext cx="63500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540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26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Conceptos fundamentales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284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94"/>
                </a:solidFill>
                <a:latin typeface="Calibri"/>
              </a:defRPr>
            </a:pPr>
            <a:r>
              <a:t>25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85616"/>
            <a:ext cx="63500" cy="59436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58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ADA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313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Power BI: demo en vivo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1330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94"/>
                </a:solidFill>
                <a:latin typeface="Calibri"/>
              </a:defRPr>
            </a:pPr>
            <a:r>
              <a:t>35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590288"/>
            <a:ext cx="63500" cy="594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636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Cierre y tarea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94"/>
                </a:solidFill>
                <a:latin typeface="Calibri"/>
              </a:defRPr>
            </a:pPr>
            <a:r>
              <a:t>15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94960"/>
            <a:ext cx="63500" cy="594360"/>
          </a:xfrm>
          <a:prstGeom prst="rect">
            <a:avLst/>
          </a:prstGeom>
          <a:solidFill>
            <a:srgbClr val="849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4681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494A7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440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Tiempo extra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742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7A94"/>
                </a:solidFill>
                <a:latin typeface="Calibri"/>
              </a:defRPr>
            </a:pPr>
            <a:r>
              <a:t>10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1371600"/>
            <a:ext cx="3840480" cy="201168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9560" y="1481328"/>
            <a:ext cx="4572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ADA4"/>
                </a:solidFill>
                <a:latin typeface="Calibri"/>
              </a:defRPr>
            </a:pPr>
            <a:r>
              <a:t>Encuentro 1 de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19659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Jueves 16/04/2026</a:t>
            </a:r>
            <a:br/>
            <a:r>
              <a:t>Modalidad: Presencial</a:t>
            </a:r>
            <a:br/>
            <a:r>
              <a:t>Duración: 2 horas</a:t>
            </a:r>
            <a:br/>
            <a:br/>
            <a:r>
              <a:t>Nivel: desde cero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3749039"/>
            <a:ext cx="3840480" cy="256032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9560" y="3858767"/>
            <a:ext cx="45720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0" y="39776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ADA4"/>
                </a:solidFill>
                <a:latin typeface="Calibri"/>
              </a:defRPr>
            </a:pPr>
            <a:r>
              <a:t>Objetivo específico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4343399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BF"/>
                </a:solidFill>
                <a:latin typeface="Calibri"/>
              </a:defRPr>
            </a:pPr>
            <a:r>
              <a:t>Establecer el "para qué" del análisis de datos, introducir los conceptos fundamentales de Power BI y lograr la primera carga de datos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¿Por qué importa el análisis de datos?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73152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FA8BF"/>
                </a:solidFill>
                <a:latin typeface="Calibri"/>
              </a:defRPr>
            </a:pPr>
            <a:r>
              <a:t>Conectar el análisis de datos con la cultura de calidad de ISELIN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320040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21408"/>
            <a:ext cx="4572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ADA4"/>
                </a:solidFill>
                <a:latin typeface="Calibri"/>
              </a:defRPr>
            </a:pPr>
            <a:r>
              <a:t>Datos → Información → Decisiones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Los datos por sí solos no dicen nada.</a:t>
            </a:r>
            <a:br/>
            <a:r>
              <a:t>Cuando los organizamos y visualizamos,</a:t>
            </a:r>
            <a:br/>
            <a:r>
              <a:t>se convierten en información para</a:t>
            </a:r>
            <a:br/>
            <a:r>
              <a:t>tomar mejores decisiones.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011680"/>
            <a:ext cx="3474720" cy="320040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121408"/>
            <a:ext cx="45720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ADA4"/>
                </a:solidFill>
                <a:latin typeface="Calibri"/>
              </a:defRPr>
            </a:pPr>
            <a:r>
              <a:t>Cultura de calidad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60604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ISELIN ya trabaja con mejora continua.</a:t>
            </a:r>
            <a:br/>
            <a:r>
              <a:t>Power BI se inserta en ese proceso</a:t>
            </a:r>
            <a:br/>
            <a:r>
              <a:t>como la herramienta para verificar</a:t>
            </a:r>
            <a:br/>
            <a:r>
              <a:t>resultados con datos reales.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011680"/>
            <a:ext cx="3474720" cy="320040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58200" y="2121408"/>
            <a:ext cx="4572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ADA4"/>
                </a:solidFill>
                <a:latin typeface="Calibri"/>
              </a:defRPr>
            </a:pPr>
            <a:r>
              <a:t>Visibilidad para todos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0604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Un dashboard permite que todas</a:t>
            </a:r>
            <a:br/>
            <a:r>
              <a:t>las áreas vean los mismos números,</a:t>
            </a:r>
            <a:br/>
            <a:r>
              <a:t>alineando criterios y facilitando</a:t>
            </a:r>
            <a:br/>
            <a:r>
              <a:t>la comunicación.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Ciclo de mejora continua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73152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FA8BF"/>
                </a:solidFill>
                <a:latin typeface="Calibri"/>
              </a:defRPr>
            </a:pPr>
            <a:r>
              <a:t>Power BI es la herramienta de "Verificar" dentro del ciclo de mejora</a:t>
            </a:r>
          </a:p>
        </p:txBody>
      </p:sp>
      <p:sp>
        <p:nvSpPr>
          <p:cNvPr id="5" name="Oval 4"/>
          <p:cNvSpPr/>
          <p:nvPr/>
        </p:nvSpPr>
        <p:spPr>
          <a:xfrm>
            <a:off x="1691640" y="2286000"/>
            <a:ext cx="502920" cy="5029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1640" y="2331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498DB"/>
                </a:solidFill>
                <a:latin typeface="Calibri"/>
              </a:defRPr>
            </a:pPr>
            <a:r>
              <a:t>Planificar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FA8BF"/>
                </a:solidFill>
                <a:latin typeface="Calibri"/>
              </a:defRPr>
            </a:pPr>
            <a:r>
              <a:t>Definir objetivos</a:t>
            </a:r>
            <a:br/>
            <a:r>
              <a:t>y planificar acciones</a:t>
            </a:r>
          </a:p>
        </p:txBody>
      </p:sp>
      <p:sp>
        <p:nvSpPr>
          <p:cNvPr id="9" name="Oval 8"/>
          <p:cNvSpPr/>
          <p:nvPr/>
        </p:nvSpPr>
        <p:spPr>
          <a:xfrm>
            <a:off x="4572000" y="2286000"/>
            <a:ext cx="502920" cy="502920"/>
          </a:xfrm>
          <a:prstGeom prst="ellipse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331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71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ADA4"/>
                </a:solidFill>
                <a:latin typeface="Calibri"/>
              </a:defRPr>
            </a:pPr>
            <a:r>
              <a:t>Hacer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429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FA8BF"/>
                </a:solidFill>
                <a:latin typeface="Calibri"/>
              </a:defRPr>
            </a:pPr>
            <a:r>
              <a:t>Ejecutar lo</a:t>
            </a:r>
            <a:br/>
            <a:r>
              <a:t>planificado</a:t>
            </a:r>
          </a:p>
        </p:txBody>
      </p:sp>
      <p:sp>
        <p:nvSpPr>
          <p:cNvPr id="13" name="Oval 12"/>
          <p:cNvSpPr/>
          <p:nvPr/>
        </p:nvSpPr>
        <p:spPr>
          <a:xfrm>
            <a:off x="7452360" y="2286000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2331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71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7E22"/>
                </a:solidFill>
                <a:latin typeface="Calibri"/>
              </a:defRPr>
            </a:pPr>
            <a:r>
              <a:t>Verificar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29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FA8BF"/>
                </a:solidFill>
                <a:latin typeface="Calibri"/>
              </a:defRPr>
            </a:pPr>
            <a:r>
              <a:t>Medir resultados</a:t>
            </a:r>
            <a:br/>
            <a:r>
              <a:t>con datos reales</a:t>
            </a:r>
          </a:p>
        </p:txBody>
      </p:sp>
      <p:sp>
        <p:nvSpPr>
          <p:cNvPr id="17" name="Oval 16"/>
          <p:cNvSpPr/>
          <p:nvPr/>
        </p:nvSpPr>
        <p:spPr>
          <a:xfrm>
            <a:off x="10332720" y="228600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2331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971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Actuar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429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FA8BF"/>
                </a:solidFill>
                <a:latin typeface="Calibri"/>
              </a:defRPr>
            </a:pPr>
            <a:r>
              <a:t>Ajustar y mejorar</a:t>
            </a:r>
            <a:br/>
            <a:r>
              <a:t>el proceso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103120"/>
            <a:ext cx="2606040" cy="274320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ADA4"/>
                </a:solidFill>
                <a:latin typeface="Calibri"/>
              </a:defRPr>
            </a:pPr>
            <a:r>
              <a:t>▸  Power BI nos permite verificar con datos si las acciones que tomamos están dando resultado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Proceso de carga: del Excel a Power BI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73152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92608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Extraer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FA8BF"/>
                </a:solidFill>
                <a:latin typeface="Calibri"/>
              </a:defRPr>
            </a:pPr>
            <a:r>
              <a:t>Sacar los datos</a:t>
            </a:r>
            <a:br/>
            <a:r>
              <a:t>desde Excel, Wara</a:t>
            </a:r>
            <a:br/>
            <a:r>
              <a:t>u otra fuente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45920"/>
            <a:ext cx="3474720" cy="292608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09160" y="1828800"/>
            <a:ext cx="502920" cy="502920"/>
          </a:xfrm>
          <a:prstGeom prst="ellipse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874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Transformar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468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FA8BF"/>
                </a:solidFill>
                <a:latin typeface="Calibri"/>
              </a:defRPr>
            </a:pPr>
            <a:r>
              <a:t>Limpiar, corregir</a:t>
            </a:r>
            <a:br/>
            <a:r>
              <a:t>formatos, eliminar</a:t>
            </a:r>
            <a:br/>
            <a:r>
              <a:t>datos innecesarios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45920"/>
            <a:ext cx="3474720" cy="292608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03920" y="182880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874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874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Cargar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46888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FA8BF"/>
                </a:solidFill>
                <a:latin typeface="Calibri"/>
              </a:defRPr>
            </a:pPr>
            <a:r>
              <a:t>Meter los datos</a:t>
            </a:r>
            <a:br/>
            <a:r>
              <a:t>limpios en Power BI</a:t>
            </a:r>
            <a:br/>
            <a:r>
              <a:t>listos para usar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98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3498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7A94"/>
                </a:solidFill>
                <a:latin typeface="Calibri"/>
              </a:defRPr>
            </a:pPr>
            <a:r>
              <a:t>En ISELIN: los datos salen de archivos Excel (operativos, choferes, rutas, siniestros),</a:t>
            </a:r>
            <a:br/>
            <a:r>
              <a:t>se limpian en Power Query y quedan disponibles en Power BI para crear visualizaciones.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Tipos de tablas en Power BI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73152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572768"/>
            <a:ext cx="4572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ADA4"/>
                </a:solidFill>
                <a:latin typeface="Calibri"/>
              </a:defRPr>
            </a:pPr>
            <a:r>
              <a:t>Tablas de datos principales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FA8BF"/>
                </a:solidFill>
                <a:latin typeface="Calibri"/>
              </a:defRPr>
            </a:pPr>
            <a:r>
              <a:t>Contienen los registros de eventos y transacciones.</a:t>
            </a:r>
            <a:br/>
            <a:r>
              <a:t>Cada fila es algo que pasó.</a:t>
            </a:r>
            <a:br/>
            <a:br/>
            <a:r>
              <a:t>Ejemplos en ISELIN:</a:t>
            </a:r>
            <a:br/>
            <a:r>
              <a:t>  •  Cada viaje realizado</a:t>
            </a:r>
            <a:br/>
            <a:r>
              <a:t>  •  Cada boleto vendido</a:t>
            </a:r>
            <a:br/>
            <a:r>
              <a:t>  •  Cada siniestro registrado</a:t>
            </a:r>
            <a:br/>
            <a:r>
              <a:t>  •  Cada gasto operativo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029200" cy="411480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572768"/>
            <a:ext cx="45720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ADA4"/>
                </a:solidFill>
                <a:latin typeface="Calibri"/>
              </a:defRPr>
            </a:pPr>
            <a:r>
              <a:t>Tablas de referencia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FA8BF"/>
                </a:solidFill>
                <a:latin typeface="Calibri"/>
              </a:defRPr>
            </a:pPr>
            <a:r>
              <a:t>Contienen datos descriptivos que no cambian seguido.</a:t>
            </a:r>
            <a:br/>
            <a:r>
              <a:t>Sirven para clasificar y agrupar.</a:t>
            </a:r>
            <a:br/>
            <a:br/>
            <a:r>
              <a:t>Ejemplos en ISELIN:</a:t>
            </a:r>
            <a:br/>
            <a:r>
              <a:t>  •  Lista de choferes</a:t>
            </a:r>
            <a:br/>
            <a:r>
              <a:t>  •  Lista de rutas</a:t>
            </a:r>
            <a:br/>
            <a:r>
              <a:t>  •  Lista de colectivos</a:t>
            </a:r>
            <a:br/>
            <a:r>
              <a:t>  •  Calendario de fechas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7A94"/>
                </a:solidFill>
                <a:latin typeface="Calibri"/>
              </a:defRPr>
            </a:pPr>
            <a:r>
              <a:t>se conectan</a:t>
            </a:r>
            <a:br/>
            <a:r>
              <a:t>por campos en</a:t>
            </a:r>
            <a:br/>
            <a:r>
              <a:t>común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¿Cómo funcionan los filtros en PBI?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73152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FA8BF"/>
                </a:solidFill>
                <a:latin typeface="Calibri"/>
              </a:defRPr>
            </a:pPr>
            <a:r>
              <a:t>Cuando aplicamos un filtro, Power BI recalcula todos los valores automáticamente.</a:t>
            </a:r>
            <a:br/>
            <a:r>
              <a:t>No hace falta cambiar fórmulas ni tocar los datos.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029200" cy="320040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487168"/>
            <a:ext cx="457200" cy="38100"/>
          </a:xfrm>
          <a:prstGeom prst="rect">
            <a:avLst/>
          </a:prstGeom>
          <a:solidFill>
            <a:srgbClr val="849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ADA4"/>
                </a:solidFill>
                <a:latin typeface="Calibri"/>
              </a:defRPr>
            </a:pPr>
            <a:r>
              <a:t>Sin filtro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FA8BF"/>
                </a:solidFill>
                <a:latin typeface="Calibri"/>
              </a:defRPr>
            </a:pPr>
            <a:r>
              <a:t>Vemos los indicadores de TODA la empresa:</a:t>
            </a:r>
            <a:br/>
            <a:br/>
            <a:r>
              <a:t>  •  Total viajes: 12.500</a:t>
            </a:r>
            <a:br/>
            <a:r>
              <a:t>  •  Km recorridos: 890.000</a:t>
            </a:r>
            <a:br/>
            <a:r>
              <a:t>  •  Siniestros: 45</a:t>
            </a:r>
            <a:br/>
            <a:r>
              <a:t>  •  Consumo gasoil: 320.000 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77440"/>
            <a:ext cx="5029200" cy="320040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2487168"/>
            <a:ext cx="45720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06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ADA4"/>
                </a:solidFill>
                <a:latin typeface="Calibri"/>
              </a:defRPr>
            </a:pPr>
            <a:r>
              <a:t>Filtro: Ruta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FA8BF"/>
                </a:solidFill>
                <a:latin typeface="Calibri"/>
              </a:defRPr>
            </a:pPr>
            <a:r>
              <a:t>Vemos solo los indicadores de la Ruta 5:</a:t>
            </a:r>
            <a:br/>
            <a:br/>
            <a:r>
              <a:t>  •  Total viajes: 1.800</a:t>
            </a:r>
            <a:br/>
            <a:r>
              <a:t>  •  Km recorridos: 125.000</a:t>
            </a:r>
            <a:br/>
            <a:r>
              <a:t>  •  Siniestros: 6</a:t>
            </a:r>
            <a:br/>
            <a:r>
              <a:t>  •  Consumo gasoil: 47.000 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98DB"/>
                </a:solidFill>
                <a:latin typeface="Calibri"/>
              </a:defRPr>
            </a:pPr>
            <a:r>
              <a:t>filtrar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Estadísticas básicas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73152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FA8BF"/>
                </a:solidFill>
                <a:latin typeface="Calibri"/>
              </a:defRPr>
            </a:pPr>
            <a:r>
              <a:t>Tres números clave para entender los datos de ISELIN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384048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965960"/>
            <a:ext cx="4572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Promedio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El valor "medio" de un conjunto de datos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14800"/>
            <a:ext cx="3200400" cy="127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7A94"/>
                </a:solidFill>
                <a:latin typeface="Calibri"/>
              </a:defRPr>
            </a:pPr>
            <a:r>
              <a:t>En ISELIN: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Km promedio recorridos</a:t>
            </a:r>
            <a:br/>
            <a:r>
              <a:t>por colectivo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474720" cy="384048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1965960"/>
            <a:ext cx="45720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ADA4"/>
                </a:solidFill>
                <a:latin typeface="Calibri"/>
              </a:defRPr>
            </a:pPr>
            <a:r>
              <a:t>Mediana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6060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El valor del medio cuando ordenamos los datos.</a:t>
            </a:r>
            <a:br/>
            <a:r>
              <a:t>No se distorsiona por valores extremos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4114800"/>
            <a:ext cx="3200400" cy="127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4251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7A94"/>
                </a:solidFill>
                <a:latin typeface="Calibri"/>
              </a:defRPr>
            </a:pPr>
            <a:r>
              <a:t>En ISELIN: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5262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Tiempo mediano de demora</a:t>
            </a:r>
            <a:br/>
            <a:r>
              <a:t>en una ruta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828800"/>
            <a:ext cx="3474720" cy="384048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58200" y="1965960"/>
            <a:ext cx="457200" cy="381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Dispersión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6060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Cuánto varían los datos respecto al promedio.</a:t>
            </a:r>
            <a:br/>
            <a:r>
              <a:t>Mucha dispersión = datos muy diferentes entre sí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4114800"/>
            <a:ext cx="3200400" cy="127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251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7A94"/>
                </a:solidFill>
                <a:latin typeface="Calibri"/>
              </a:defRPr>
            </a:pPr>
            <a:r>
              <a:t>En ISELIN: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5262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Variabilidad del consumo</a:t>
            </a:r>
            <a:br/>
            <a:r>
              <a:t>de gasoil entre colectivos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Power BI: conociendo la herramienta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73152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ADA4"/>
                </a:solidFill>
                <a:latin typeface="Calibri"/>
              </a:defRPr>
            </a:pPr>
            <a:r>
              <a:t>Demo en vivo  ·  35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Las 3 vistas de PBI Desktop: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31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Informe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BF"/>
                </a:solidFill>
                <a:latin typeface="Calibri"/>
              </a:defRPr>
            </a:pPr>
            <a:r>
              <a:t>Donde se crean las</a:t>
            </a:r>
            <a:br/>
            <a:r>
              <a:t>visualizaciones y dashboards</a:t>
            </a:r>
          </a:p>
        </p:txBody>
      </p:sp>
      <p:sp>
        <p:nvSpPr>
          <p:cNvPr id="10" name="Oval 9"/>
          <p:cNvSpPr/>
          <p:nvPr/>
        </p:nvSpPr>
        <p:spPr>
          <a:xfrm>
            <a:off x="3108960" y="2286000"/>
            <a:ext cx="502920" cy="502920"/>
          </a:xfrm>
          <a:prstGeom prst="ellipse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331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331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ADA4"/>
                </a:solidFill>
                <a:latin typeface="Calibri"/>
              </a:defRPr>
            </a:pPr>
            <a:r>
              <a:t>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BF"/>
                </a:solidFill>
                <a:latin typeface="Calibri"/>
              </a:defRPr>
            </a:pPr>
            <a:r>
              <a:t>Donde se ven las tablas</a:t>
            </a:r>
            <a:br/>
            <a:r>
              <a:t>y los datos cargados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2286000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331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331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FA8BF"/>
                </a:solidFill>
                <a:latin typeface="Calibri"/>
              </a:defRPr>
            </a:pPr>
            <a:r>
              <a:t>Donde se conectan</a:t>
            </a:r>
            <a:br/>
            <a:r>
              <a:t>las tablas entre sí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645920"/>
            <a:ext cx="4114800" cy="438912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39" y="1755648"/>
            <a:ext cx="45720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59" y="187452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ADA4"/>
                </a:solidFill>
                <a:latin typeface="Calibri"/>
              </a:defRPr>
            </a:pPr>
            <a:r>
              <a:t>Práctica en vivo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2240280"/>
            <a:ext cx="3749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1. Cargar un archivo Excel real de ISELIN</a:t>
            </a:r>
            <a:br/>
            <a:br/>
            <a:r>
              <a:t>2. Vista previa en Power Query</a:t>
            </a:r>
            <a:br/>
            <a:br/>
            <a:r>
              <a:t>3. Ajustar tipos de datos</a:t>
            </a:r>
            <a:br/>
            <a:br/>
            <a:r>
              <a:t>4. Cerrar y aplicar</a:t>
            </a:r>
            <a:br/>
            <a:br/>
            <a:r>
              <a:t>5. Crear el primer gráfico de barras</a:t>
            </a:r>
            <a:br/>
            <a:r>
              <a:t>   con un indicador real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40480"/>
            <a:ext cx="6217920" cy="2560320"/>
          </a:xfrm>
          <a:prstGeom prst="round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A94"/>
                </a:solidFill>
                <a:latin typeface="Calibri"/>
              </a:defRPr>
            </a:pPr>
            <a:r>
              <a:t>[ Espacio para captura de pantalla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Interfaz de Power BI Desktop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73152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754880" cy="173736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481328"/>
            <a:ext cx="4572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ADA4"/>
                </a:solidFill>
                <a:latin typeface="Calibri"/>
              </a:defRPr>
            </a:pPr>
            <a:r>
              <a:t>Cinta de opciones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Menú principal con todas las</a:t>
            </a:r>
            <a:br/>
            <a:r>
              <a:t>herramientas organizadas</a:t>
            </a:r>
            <a:br/>
            <a:r>
              <a:t>por pestañas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4754880" cy="173736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81328"/>
            <a:ext cx="45720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ADA4"/>
                </a:solidFill>
                <a:latin typeface="Calibri"/>
              </a:defRPr>
            </a:pPr>
            <a:r>
              <a:t>Panel de campos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6596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Lista de tablas y columnas</a:t>
            </a:r>
            <a:br/>
            <a:r>
              <a:t>disponibles para usar en</a:t>
            </a:r>
            <a:br/>
            <a:r>
              <a:t>las visualizaciones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4754880" cy="173736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584448"/>
            <a:ext cx="45720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ADA4"/>
                </a:solidFill>
                <a:latin typeface="Calibri"/>
              </a:defRPr>
            </a:pPr>
            <a:r>
              <a:t>Panel de visualizaciones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Tipos de gráficos disponibles</a:t>
            </a:r>
            <a:br/>
            <a:r>
              <a:t>y opciones de formato</a:t>
            </a:r>
            <a:br/>
            <a:r>
              <a:t>para cada uno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474720"/>
            <a:ext cx="4754880" cy="173736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584448"/>
            <a:ext cx="4572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703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ADA4"/>
                </a:solidFill>
                <a:latin typeface="Calibri"/>
              </a:defRPr>
            </a:pPr>
            <a:r>
              <a:t>Panel de filtros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06908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Filtros que aplican a todo</a:t>
            </a:r>
            <a:br/>
            <a:r>
              <a:t>el reporte, a una página</a:t>
            </a:r>
            <a:br/>
            <a:r>
              <a:t>o a un gráfico específico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789920" cy="1188720"/>
          </a:xfrm>
          <a:prstGeom prst="roundRect">
            <a:avLst/>
          </a:prstGeom>
          <a:solidFill>
            <a:srgbClr val="14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A94"/>
                </a:solidFill>
                <a:latin typeface="Calibri"/>
              </a:defRPr>
            </a:pPr>
            <a:r>
              <a:t>[ Espacio para captura de la interfaz de PBI Desktop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/>
          <p:nvPr/>
        </p:nvSpPr>
        <p:spPr>
          <a:xfrm>
            <a:off x="822960" y="1280160"/>
            <a:ext cx="2926080" cy="3749039"/>
          </a:xfrm>
          <a:prstGeom prst="rect">
            <a:avLst/>
          </a:prstGeom>
          <a:solidFill>
            <a:srgbClr val="1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Mapa de ruta: los 4 encuentros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73152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971800"/>
            <a:ext cx="9601200" cy="254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57400" y="2852928"/>
            <a:ext cx="274320" cy="2743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98DB"/>
                </a:solidFill>
                <a:latin typeface="Calibri"/>
              </a:defRPr>
            </a:pPr>
            <a:r>
              <a:t>E1 —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A94"/>
                </a:solidFill>
                <a:latin typeface="Calibri"/>
              </a:defRPr>
            </a:pPr>
            <a:r>
              <a:t>16/04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FA8BF"/>
                </a:solidFill>
                <a:latin typeface="Calibri"/>
              </a:defRPr>
            </a:pPr>
            <a:r>
              <a:t>Fundamentos,</a:t>
            </a:r>
            <a:br/>
            <a:r>
              <a:t>Calidad y</a:t>
            </a:r>
            <a:br/>
            <a:r>
              <a:t>Primer Contacto</a:t>
            </a:r>
          </a:p>
        </p:txBody>
      </p:sp>
      <p:sp>
        <p:nvSpPr>
          <p:cNvPr id="9" name="Oval 8"/>
          <p:cNvSpPr/>
          <p:nvPr/>
        </p:nvSpPr>
        <p:spPr>
          <a:xfrm>
            <a:off x="4846320" y="2852928"/>
            <a:ext cx="274320" cy="274320"/>
          </a:xfrm>
          <a:prstGeom prst="ellipse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ADA4"/>
                </a:solidFill>
                <a:latin typeface="Calibri"/>
              </a:defRPr>
            </a:pPr>
            <a:r>
              <a:t>E2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874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A94"/>
                </a:solidFill>
                <a:latin typeface="Calibri"/>
              </a:defRPr>
            </a:pPr>
            <a:r>
              <a:t>21/04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3832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FA8BF"/>
                </a:solidFill>
                <a:latin typeface="Calibri"/>
              </a:defRPr>
            </a:pPr>
            <a:r>
              <a:t>Modelo de Datos,</a:t>
            </a:r>
            <a:br/>
            <a:r>
              <a:t>Power Query y</a:t>
            </a:r>
            <a:br/>
            <a:r>
              <a:t>Visualizaciones</a:t>
            </a:r>
          </a:p>
        </p:txBody>
      </p:sp>
      <p:sp>
        <p:nvSpPr>
          <p:cNvPr id="13" name="Oval 12"/>
          <p:cNvSpPr/>
          <p:nvPr/>
        </p:nvSpPr>
        <p:spPr>
          <a:xfrm>
            <a:off x="7635240" y="2852928"/>
            <a:ext cx="274320" cy="2743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98DB"/>
                </a:solidFill>
                <a:latin typeface="Calibri"/>
              </a:defRPr>
            </a:pPr>
            <a:r>
              <a:t>E3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874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A94"/>
                </a:solidFill>
                <a:latin typeface="Calibri"/>
              </a:defRPr>
            </a:pPr>
            <a:r>
              <a:t>23/04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832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FA8BF"/>
                </a:solidFill>
                <a:latin typeface="Calibri"/>
              </a:defRPr>
            </a:pPr>
            <a:r>
              <a:t>Fórmulas DAX,</a:t>
            </a:r>
            <a:br/>
            <a:r>
              <a:t>Dashboards y</a:t>
            </a:r>
            <a:br/>
            <a:r>
              <a:t>Storytelling</a:t>
            </a:r>
          </a:p>
        </p:txBody>
      </p:sp>
      <p:sp>
        <p:nvSpPr>
          <p:cNvPr id="17" name="Oval 16"/>
          <p:cNvSpPr/>
          <p:nvPr/>
        </p:nvSpPr>
        <p:spPr>
          <a:xfrm>
            <a:off x="10424159" y="2852928"/>
            <a:ext cx="274320" cy="274320"/>
          </a:xfrm>
          <a:prstGeom prst="ellipse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39" y="1463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ADA4"/>
                </a:solidFill>
                <a:latin typeface="Calibri"/>
              </a:defRPr>
            </a:pPr>
            <a:r>
              <a:t>E4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39" y="1874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7A94"/>
                </a:solidFill>
                <a:latin typeface="Calibri"/>
              </a:defRPr>
            </a:pPr>
            <a:r>
              <a:t>30/04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33832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FA8BF"/>
                </a:solidFill>
                <a:latin typeface="Calibri"/>
              </a:defRPr>
            </a:pPr>
            <a:r>
              <a:t>Interpretación,</a:t>
            </a:r>
            <a:br/>
            <a:r>
              <a:t>Publicación y</a:t>
            </a:r>
            <a:br/>
            <a:r>
              <a:t>Actualización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Tarea para el Encuentro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73152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FA8BF"/>
                </a:solidFill>
                <a:latin typeface="Calibri"/>
              </a:defRPr>
            </a:pPr>
            <a:r>
              <a:t>Para practicar antes del martes 21/04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858000" cy="274320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21408"/>
            <a:ext cx="457200" cy="38100"/>
          </a:xfrm>
          <a:prstGeom prst="rect">
            <a:avLst/>
          </a:prstGeom>
          <a:solidFill>
            <a:srgbClr val="4A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ADA4"/>
                </a:solidFill>
                <a:latin typeface="Calibri"/>
              </a:defRPr>
            </a:pPr>
            <a:r>
              <a:t>Abrir Power BI Desktop y cargar un Excel de tu área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6492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FA8BF"/>
                </a:solidFill>
                <a:latin typeface="Calibri"/>
              </a:defRPr>
            </a:pPr>
            <a:r>
              <a:t>1.  Abrir Power BI Desktop en tu computadora</a:t>
            </a:r>
            <a:br/>
            <a:br/>
            <a:r>
              <a:t>2.  Ir a Inicio → Obtener datos → Excel</a:t>
            </a:r>
            <a:br/>
            <a:br/>
            <a:r>
              <a:t>3.  Seleccionar un archivo Excel de tu área</a:t>
            </a:r>
            <a:br/>
            <a:br/>
            <a:r>
              <a:t>4.  Revisar la vista previa y hacer clic en "Cargar"</a:t>
            </a:r>
            <a:br/>
            <a:br/>
            <a:r>
              <a:t>5.  Explorar los datos en la vista de Datos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011680"/>
            <a:ext cx="3474720" cy="274320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66760" y="2121408"/>
            <a:ext cx="457200" cy="38100"/>
          </a:xfrm>
          <a:prstGeom prst="rect">
            <a:avLst/>
          </a:prstGeom>
          <a:solidFill>
            <a:srgbClr val="8494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ADA4"/>
                </a:solidFill>
                <a:latin typeface="Calibri"/>
              </a:defRPr>
            </a:pPr>
            <a:r>
              <a:t>Si tenés dudas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060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8BF"/>
                </a:solidFill>
                <a:latin typeface="Calibri"/>
              </a:defRPr>
            </a:pPr>
            <a:r>
              <a:t>No te preocupes si algo</a:t>
            </a:r>
            <a:br/>
            <a:r>
              <a:t>no funciona. Arrancamos</a:t>
            </a:r>
            <a:br/>
            <a:r>
              <a:t>el Encuentro 2 resolviendo</a:t>
            </a:r>
            <a:br/>
            <a:r>
              <a:t>dudas y errores comunes.</a:t>
            </a:r>
            <a:br/>
            <a:br/>
            <a:r>
              <a:t>Lo importante es intentarlo.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Entregables que van a recibir: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8FA8BF"/>
                </a:solidFill>
                <a:latin typeface="Calibri"/>
              </a:defRPr>
              <a:buChar char="▸"/>
              <a:buClr>
                <a:srgbClr val="4AADA4"/>
              </a:buClr>
            </a:pPr>
            <a:r>
              <a:t>Archivo .pbix base con la primera tabla cargada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8FA8BF"/>
                </a:solidFill>
                <a:latin typeface="Calibri"/>
              </a:defRPr>
              <a:buChar char="▸"/>
              <a:buClr>
                <a:srgbClr val="4AADA4"/>
              </a:buClr>
            </a:pPr>
            <a:r>
              <a:t>Guía de conceptos fundamentales (PDF)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>
                <a:solidFill>
                  <a:srgbClr val="8FA8BF"/>
                </a:solidFill>
                <a:latin typeface="Calibri"/>
              </a:defRPr>
              <a:buChar char="▸"/>
              <a:buClr>
                <a:srgbClr val="4AADA4"/>
              </a:buClr>
            </a:pPr>
            <a:r>
              <a:t>Guía de instalación de PBI Desktop (PDF)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494A7"/>
                </a:solidFill>
                <a:latin typeface="Calibri"/>
              </a:rPr>
              <a:t>data </a:t>
            </a:r>
            <a:r>
              <a:rPr sz="2200" b="1">
                <a:solidFill>
                  <a:srgbClr val="4AADA4"/>
                </a:solidFill>
                <a:latin typeface="Calibri"/>
              </a:rPr>
              <a:t>oilers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743200"/>
            <a:ext cx="1097280" cy="508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¡Gracias!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FA8BF"/>
                </a:solidFill>
                <a:latin typeface="Calibri"/>
              </a:defRPr>
            </a:pPr>
            <a:r>
              <a:t>Nos vemos en el Encuentro 2 — Martes 21 de abril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ADA4"/>
                </a:solidFill>
                <a:latin typeface="Calibri"/>
              </a:defRPr>
            </a:pPr>
            <a:r>
              <a:t>Modelo de Datos, Power Query y Primeras Visualizaciones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7A94"/>
                </a:solidFill>
                <a:latin typeface="Calibri"/>
              </a:defRPr>
            </a:pPr>
            <a:r>
              <a:t>¿Preguntas? Escribinos por el canal de Teams/WhatsApp del programa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